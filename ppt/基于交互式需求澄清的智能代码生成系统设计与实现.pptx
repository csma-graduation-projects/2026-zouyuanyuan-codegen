
<file path=[Content_Types].xml><?xml version="1.0" encoding="utf-8"?>
<Types xmlns="http://schemas.openxmlformats.org/package/2006/content-types">
  <Default Extension="xlsx" ContentType="application/vnd.openxmlformats-officedocument.spreadsheetml.sheet"/>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media/image17.svg" ContentType="image/svg+xml"/>
  <Override PartName="/ppt/media/image19.svg" ContentType="image/svg+xml"/>
  <Override PartName="/ppt/media/image21.svg" ContentType="image/svg+xml"/>
  <Override PartName="/ppt/media/image23.svg" ContentType="image/svg+xml"/>
  <Override PartName="/ppt/media/image25.svg" ContentType="image/svg+xml"/>
  <Override PartName="/ppt/media/image27.svg" ContentType="image/svg+xml"/>
  <Override PartName="/ppt/media/image31.svg" ContentType="image/svg+xml"/>
  <Override PartName="/ppt/media/image34.svg" ContentType="image/svg+xml"/>
  <Override PartName="/ppt/media/image36.svg" ContentType="image/svg+xml"/>
  <Override PartName="/ppt/media/image38.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50.svg" ContentType="image/svg+xml"/>
  <Override PartName="/ppt/media/image52.svg" ContentType="image/svg+xml"/>
  <Override PartName="/ppt/media/image54.svg" ContentType="image/svg+xml"/>
  <Override PartName="/ppt/media/image5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7"/>
  </p:notesMasterIdLst>
  <p:sldIdLst>
    <p:sldId id="271" r:id="rId4"/>
    <p:sldId id="273" r:id="rId5"/>
    <p:sldId id="258" r:id="rId6"/>
    <p:sldId id="259" r:id="rId8"/>
    <p:sldId id="260" r:id="rId9"/>
    <p:sldId id="261" r:id="rId10"/>
    <p:sldId id="262" r:id="rId11"/>
    <p:sldId id="263" r:id="rId12"/>
    <p:sldId id="264" r:id="rId13"/>
    <p:sldId id="265" r:id="rId14"/>
    <p:sldId id="266" r:id="rId15"/>
    <p:sldId id="274" r:id="rId16"/>
    <p:sldId id="275" r:id="rId17"/>
    <p:sldId id="276"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573"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573"/>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notesMaster" Target="notesMasters/notesMaster1.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spPr>
        <a:noFill/>
        <a:ln>
          <a:noFill/>
        </a:ln>
        <a:effectLst/>
      </c:spPr>
      <c:txPr>
        <a:bodyPr rot="0" spcFirstLastPara="0" vertOverflow="ellipsis" vert="horz" wrap="square" anchor="ctr" anchorCtr="1"/>
        <a:lstStyle/>
        <a:p>
          <a:pPr>
            <a:defRPr lang="zh-CN" sz="1400" b="1" i="0" u="none" strike="noStrike" kern="1200" baseline="0">
              <a:solidFill>
                <a:schemeClr val="tx1">
                  <a:lumMod val="75000"/>
                  <a:lumOff val="25000"/>
                </a:schemeClr>
              </a:solidFill>
              <a:latin typeface="+mn-lt"/>
              <a:ea typeface="+mn-ea"/>
              <a:cs typeface="+mn-cs"/>
            </a:defRPr>
          </a:pPr>
        </a:p>
      </c:txPr>
    </c:title>
    <c:autoTitleDeleted val="0"/>
    <c:plotArea>
      <c:layout/>
      <c:barChart>
        <c:barDir val="col"/>
        <c:grouping val="clustered"/>
        <c:varyColors val="0"/>
        <c:ser>
          <c:idx val="0"/>
          <c:order val="0"/>
          <c:tx>
            <c:strRef>
              <c:f>Sheet1!$B$1</c:f>
              <c:strCache>
                <c:ptCount val="1"/>
                <c:pt idx="0">
                  <c:v>代码通过率（Pass@1)</c:v>
                </c:pt>
              </c:strCache>
            </c:strRef>
          </c:tx>
          <c:spPr>
            <a:solidFill>
              <a:schemeClr val="accent1"/>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直接生成</c:v>
                </c:pt>
                <c:pt idx="1">
                  <c:v>本系统</c:v>
                </c:pt>
              </c:strCache>
            </c:strRef>
          </c:cat>
          <c:val>
            <c:numRef>
              <c:f>Sheet1!$B$2:$B$3</c:f>
              <c:numCache>
                <c:formatCode>0%</c:formatCode>
                <c:ptCount val="2"/>
                <c:pt idx="0">
                  <c:v>0.7</c:v>
                </c:pt>
                <c:pt idx="1">
                  <c:v>1</c:v>
                </c:pt>
              </c:numCache>
            </c:numRef>
          </c:val>
        </c:ser>
        <c:dLbls>
          <c:showLegendKey val="0"/>
          <c:showVal val="1"/>
          <c:showCatName val="0"/>
          <c:showSerName val="0"/>
          <c:showPercent val="0"/>
          <c:showBubbleSize val="0"/>
        </c:dLbls>
        <c:gapWidth val="246"/>
        <c:overlap val="-28"/>
        <c:axId val="540326186"/>
        <c:axId val="131326426"/>
      </c:barChart>
      <c:catAx>
        <c:axId val="540326186"/>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131326426"/>
        <c:crosses val="autoZero"/>
        <c:auto val="1"/>
        <c:lblAlgn val="ctr"/>
        <c:lblOffset val="100"/>
        <c:noMultiLvlLbl val="0"/>
      </c:catAx>
      <c:valAx>
        <c:axId val="131326426"/>
        <c:scaling>
          <c:orientation val="minMax"/>
        </c:scaling>
        <c:delete val="0"/>
        <c:axPos val="l"/>
        <c:majorGridlines>
          <c:spPr>
            <a:ln w="9525" cap="flat" cmpd="sng" algn="ctr">
              <a:solidFill>
                <a:schemeClr val="lt1">
                  <a:lumMod val="90200"/>
                </a:schemeClr>
              </a:solidFill>
              <a:round/>
            </a:ln>
            <a:effectLst/>
          </c:spPr>
        </c:majorGridlines>
        <c:numFmt formatCode="0%"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540326186"/>
        <c:crosses val="autoZero"/>
        <c:crossBetween val="between"/>
      </c:valAx>
      <c:spPr>
        <a:noFill/>
        <a:ln>
          <a:noFill/>
        </a:ln>
        <a:effectLst/>
      </c:spPr>
    </c:plotArea>
    <c:legend>
      <c:legendPos val="b"/>
      <c:layout/>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a01e9a98-d858-475d-af9d-acee1a8467bb}"/>
      </c:ext>
    </c:extLst>
  </c:chart>
  <c:spPr>
    <a:noFill/>
    <a:ln>
      <a:noFill/>
    </a:ln>
    <a:effectLst/>
  </c:spPr>
  <c:txPr>
    <a:bodyPr/>
    <a:lstStyle/>
    <a:p>
      <a:pPr>
        <a:defRPr lang="zh-CN"/>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6B80E0D8-4246-4344-BA9D-5048CA25188E}"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0A46F7EF-2058-40E3-AC53-B761F1B3F465}" type="slidenum">
              <a:rPr lang="zh-CN" altLang="en-US" smtClean="0"/>
            </a:fld>
            <a:endParaRPr lang="zh-CN" altLang="en-US"/>
          </a:p>
        </p:txBody>
      </p:sp>
    </p:spTree>
  </p:cSld>
  <p:clrMapOvr>
    <a:masterClrMapping/>
  </p:clrMapOvr>
  <p:hf sldNum="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11" name="图片 10"/>
          <p:cNvPicPr>
            <a:picLocks noChangeAspect="1"/>
          </p:cNvPicPr>
          <p:nvPr userDrawn="1"/>
        </p:nvPicPr>
        <p:blipFill>
          <a:blip r:embed="rId2" cstate="screen">
            <a:duotone>
              <a:schemeClr val="accent2">
                <a:shade val="45000"/>
                <a:satMod val="135000"/>
              </a:schemeClr>
              <a:prstClr val="white"/>
            </a:duotone>
          </a:blip>
          <a:stretch>
            <a:fillRect/>
          </a:stretch>
        </p:blipFill>
        <p:spPr>
          <a:xfrm>
            <a:off x="-1" y="0"/>
            <a:ext cx="12192001" cy="6858000"/>
          </a:xfrm>
          <a:prstGeom prst="rect">
            <a:avLst/>
          </a:prstGeom>
        </p:spPr>
      </p:pic>
      <p:pic>
        <p:nvPicPr>
          <p:cNvPr id="12" name="图片 11"/>
          <p:cNvPicPr>
            <a:picLocks noChangeAspect="1"/>
          </p:cNvPicPr>
          <p:nvPr userDrawn="1"/>
        </p:nvPicPr>
        <p:blipFill rotWithShape="1">
          <a:blip r:embed="rId3" cstate="screen"/>
          <a:srcRect/>
          <a:stretch>
            <a:fillRect/>
          </a:stretch>
        </p:blipFill>
        <p:spPr>
          <a:xfrm rot="10800000" flipV="1">
            <a:off x="10072877" y="6201205"/>
            <a:ext cx="2119123" cy="671206"/>
          </a:xfrm>
          <a:prstGeom prst="rect">
            <a:avLst/>
          </a:prstGeom>
        </p:spPr>
      </p:pic>
      <p:pic>
        <p:nvPicPr>
          <p:cNvPr id="13" name="图片 12"/>
          <p:cNvPicPr>
            <a:picLocks noChangeAspect="1"/>
          </p:cNvPicPr>
          <p:nvPr userDrawn="1"/>
        </p:nvPicPr>
        <p:blipFill rotWithShape="1">
          <a:blip r:embed="rId4" cstate="screen"/>
          <a:srcRect/>
          <a:stretch>
            <a:fillRect/>
          </a:stretch>
        </p:blipFill>
        <p:spPr>
          <a:xfrm>
            <a:off x="2" y="0"/>
            <a:ext cx="1903749" cy="758267"/>
          </a:xfrm>
          <a:prstGeom prst="rect">
            <a:avLst/>
          </a:prstGeom>
        </p:spPr>
      </p:pic>
      <p:pic>
        <p:nvPicPr>
          <p:cNvPr id="14" name="图片 13"/>
          <p:cNvPicPr>
            <a:picLocks noChangeAspect="1"/>
          </p:cNvPicPr>
          <p:nvPr userDrawn="1"/>
        </p:nvPicPr>
        <p:blipFill rotWithShape="1">
          <a:blip r:embed="rId5" cstate="screen"/>
          <a:srcRect/>
          <a:stretch>
            <a:fillRect/>
          </a:stretch>
        </p:blipFill>
        <p:spPr>
          <a:xfrm>
            <a:off x="1299146" y="-14411"/>
            <a:ext cx="814090" cy="308410"/>
          </a:xfrm>
          <a:prstGeom prst="rect">
            <a:avLst/>
          </a:prstGeom>
        </p:spPr>
      </p:pic>
      <p:pic>
        <p:nvPicPr>
          <p:cNvPr id="15" name="图片 14"/>
          <p:cNvPicPr>
            <a:picLocks noChangeAspect="1"/>
          </p:cNvPicPr>
          <p:nvPr userDrawn="1"/>
        </p:nvPicPr>
        <p:blipFill rotWithShape="1">
          <a:blip r:embed="rId6" cstate="screen"/>
          <a:srcRect/>
          <a:stretch>
            <a:fillRect/>
          </a:stretch>
        </p:blipFill>
        <p:spPr>
          <a:xfrm rot="5400000" flipV="1">
            <a:off x="9874012" y="6095587"/>
            <a:ext cx="397731" cy="1141508"/>
          </a:xfrm>
          <a:prstGeom prst="rect">
            <a:avLst/>
          </a:prstGeom>
        </p:spPr>
      </p:pic>
      <p:sp>
        <p:nvSpPr>
          <p:cNvPr id="16" name="矩形 15"/>
          <p:cNvSpPr/>
          <p:nvPr userDrawn="1"/>
        </p:nvSpPr>
        <p:spPr>
          <a:xfrm>
            <a:off x="-1" y="764500"/>
            <a:ext cx="12192001" cy="528680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hf sldNum="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4" Type="http://schemas.openxmlformats.org/officeDocument/2006/relationships/theme" Target="../theme/theme2.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Layout" Target="../slideLayouts/slideLayout13.xml"/><Relationship Id="rId7" Type="http://schemas.openxmlformats.org/officeDocument/2006/relationships/image" Target="../media/image11.png"/><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6" Type="http://schemas.openxmlformats.org/officeDocument/2006/relationships/slideLayout" Target="../slideLayouts/slideLayout13.xml"/><Relationship Id="rId5" Type="http://schemas.openxmlformats.org/officeDocument/2006/relationships/image" Target="../media/image13.png"/><Relationship Id="rId4" Type="http://schemas.openxmlformats.org/officeDocument/2006/relationships/image" Target="../media/image12.png"/><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2.xml"/><Relationship Id="rId2" Type="http://schemas.openxmlformats.org/officeDocument/2006/relationships/image" Target="../media/image15.jpeg"/><Relationship Id="rId1" Type="http://schemas.openxmlformats.org/officeDocument/2006/relationships/image" Target="../media/image14.jpeg"/></Relationships>
</file>

<file path=ppt/slides/_rels/slide4.xml.rels><?xml version="1.0" encoding="UTF-8" standalone="yes"?>
<Relationships xmlns="http://schemas.openxmlformats.org/package/2006/relationships"><Relationship Id="rId9" Type="http://schemas.openxmlformats.org/officeDocument/2006/relationships/notesSlide" Target="../notesSlides/notesSlide2.xml"/><Relationship Id="rId8" Type="http://schemas.openxmlformats.org/officeDocument/2006/relationships/slideLayout" Target="../slideLayouts/slideLayout12.xml"/><Relationship Id="rId7" Type="http://schemas.openxmlformats.org/officeDocument/2006/relationships/image" Target="../media/image21.svg"/><Relationship Id="rId6" Type="http://schemas.openxmlformats.org/officeDocument/2006/relationships/image" Target="../media/image20.png"/><Relationship Id="rId5" Type="http://schemas.openxmlformats.org/officeDocument/2006/relationships/image" Target="../media/image19.svg"/><Relationship Id="rId4" Type="http://schemas.openxmlformats.org/officeDocument/2006/relationships/image" Target="../media/image18.png"/><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image" Target="../media/image14.jpeg"/></Relationships>
</file>

<file path=ppt/slides/_rels/slide5.xml.rels><?xml version="1.0" encoding="UTF-8" standalone="yes"?>
<Relationships xmlns="http://schemas.openxmlformats.org/package/2006/relationships"><Relationship Id="rId9" Type="http://schemas.openxmlformats.org/officeDocument/2006/relationships/notesSlide" Target="../notesSlides/notesSlide3.xml"/><Relationship Id="rId8" Type="http://schemas.openxmlformats.org/officeDocument/2006/relationships/slideLayout" Target="../slideLayouts/slideLayout12.xml"/><Relationship Id="rId7" Type="http://schemas.openxmlformats.org/officeDocument/2006/relationships/image" Target="../media/image21.svg"/><Relationship Id="rId6" Type="http://schemas.openxmlformats.org/officeDocument/2006/relationships/image" Target="../media/image20.png"/><Relationship Id="rId5" Type="http://schemas.openxmlformats.org/officeDocument/2006/relationships/image" Target="../media/image23.svg"/><Relationship Id="rId4" Type="http://schemas.openxmlformats.org/officeDocument/2006/relationships/image" Target="../media/image22.png"/><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image" Target="../media/image14.jpeg"/></Relationships>
</file>

<file path=ppt/slides/_rels/slide6.xml.rels><?xml version="1.0" encoding="UTF-8" standalone="yes"?>
<Relationships xmlns="http://schemas.openxmlformats.org/package/2006/relationships"><Relationship Id="rId9" Type="http://schemas.openxmlformats.org/officeDocument/2006/relationships/image" Target="../media/image21.svg"/><Relationship Id="rId8" Type="http://schemas.openxmlformats.org/officeDocument/2006/relationships/image" Target="../media/image20.png"/><Relationship Id="rId7" Type="http://schemas.openxmlformats.org/officeDocument/2006/relationships/image" Target="../media/image27.svg"/><Relationship Id="rId6" Type="http://schemas.openxmlformats.org/officeDocument/2006/relationships/image" Target="../media/image26.png"/><Relationship Id="rId5" Type="http://schemas.openxmlformats.org/officeDocument/2006/relationships/image" Target="../media/image25.svg"/><Relationship Id="rId4" Type="http://schemas.openxmlformats.org/officeDocument/2006/relationships/image" Target="../media/image24.png"/><Relationship Id="rId3" Type="http://schemas.openxmlformats.org/officeDocument/2006/relationships/image" Target="../media/image17.svg"/><Relationship Id="rId2" Type="http://schemas.openxmlformats.org/officeDocument/2006/relationships/image" Target="../media/image16.png"/><Relationship Id="rId11" Type="http://schemas.openxmlformats.org/officeDocument/2006/relationships/notesSlide" Target="../notesSlides/notesSlide4.xml"/><Relationship Id="rId10" Type="http://schemas.openxmlformats.org/officeDocument/2006/relationships/slideLayout" Target="../slideLayouts/slideLayout12.xml"/><Relationship Id="rId1" Type="http://schemas.openxmlformats.org/officeDocument/2006/relationships/image" Target="../media/image14.jpeg"/></Relationships>
</file>

<file path=ppt/slides/_rels/slide7.xml.rels><?xml version="1.0" encoding="UTF-8" standalone="yes"?>
<Relationships xmlns="http://schemas.openxmlformats.org/package/2006/relationships"><Relationship Id="rId8" Type="http://schemas.openxmlformats.org/officeDocument/2006/relationships/notesSlide" Target="../notesSlides/notesSlide5.xml"/><Relationship Id="rId7" Type="http://schemas.openxmlformats.org/officeDocument/2006/relationships/slideLayout" Target="../slideLayouts/slideLayout12.xml"/><Relationship Id="rId6" Type="http://schemas.openxmlformats.org/officeDocument/2006/relationships/image" Target="../media/image32.jpeg"/><Relationship Id="rId5" Type="http://schemas.openxmlformats.org/officeDocument/2006/relationships/image" Target="../media/image31.svg"/><Relationship Id="rId4" Type="http://schemas.openxmlformats.org/officeDocument/2006/relationships/image" Target="../media/image30.png"/><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image" Target="../media/image14.jpeg"/></Relationships>
</file>

<file path=ppt/slides/_rels/slide8.xml.rels><?xml version="1.0" encoding="UTF-8" standalone="yes"?>
<Relationships xmlns="http://schemas.openxmlformats.org/package/2006/relationships"><Relationship Id="rId9" Type="http://schemas.openxmlformats.org/officeDocument/2006/relationships/image" Target="../media/image21.svg"/><Relationship Id="rId8" Type="http://schemas.openxmlformats.org/officeDocument/2006/relationships/image" Target="../media/image20.png"/><Relationship Id="rId7" Type="http://schemas.openxmlformats.org/officeDocument/2006/relationships/image" Target="../media/image23.svg"/><Relationship Id="rId6" Type="http://schemas.openxmlformats.org/officeDocument/2006/relationships/image" Target="../media/image22.png"/><Relationship Id="rId5" Type="http://schemas.openxmlformats.org/officeDocument/2006/relationships/image" Target="../media/image17.svg"/><Relationship Id="rId4" Type="http://schemas.openxmlformats.org/officeDocument/2006/relationships/image" Target="../media/image16.png"/><Relationship Id="rId3" Type="http://schemas.openxmlformats.org/officeDocument/2006/relationships/image" Target="../media/image34.svg"/><Relationship Id="rId2" Type="http://schemas.openxmlformats.org/officeDocument/2006/relationships/image" Target="../media/image33.png"/><Relationship Id="rId15" Type="http://schemas.openxmlformats.org/officeDocument/2006/relationships/notesSlide" Target="../notesSlides/notesSlide6.xml"/><Relationship Id="rId14" Type="http://schemas.openxmlformats.org/officeDocument/2006/relationships/slideLayout" Target="../slideLayouts/slideLayout12.xml"/><Relationship Id="rId13" Type="http://schemas.openxmlformats.org/officeDocument/2006/relationships/image" Target="../media/image38.svg"/><Relationship Id="rId12" Type="http://schemas.openxmlformats.org/officeDocument/2006/relationships/image" Target="../media/image37.png"/><Relationship Id="rId11" Type="http://schemas.openxmlformats.org/officeDocument/2006/relationships/image" Target="../media/image36.svg"/><Relationship Id="rId10" Type="http://schemas.openxmlformats.org/officeDocument/2006/relationships/image" Target="../media/image35.png"/><Relationship Id="rId1" Type="http://schemas.openxmlformats.org/officeDocument/2006/relationships/image" Target="../media/image14.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image" Target="../media/image14.jpeg"/></Relationships>
</file>

<file path=ppt/slides/_rels/slide10.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44.svg"/><Relationship Id="rId7" Type="http://schemas.openxmlformats.org/officeDocument/2006/relationships/image" Target="../media/image43.png"/><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40.svg"/><Relationship Id="rId3" Type="http://schemas.openxmlformats.org/officeDocument/2006/relationships/image" Target="../media/image39.png"/><Relationship Id="rId2" Type="http://schemas.openxmlformats.org/officeDocument/2006/relationships/image" Target="../media/image14.jpeg"/><Relationship Id="rId10" Type="http://schemas.openxmlformats.org/officeDocument/2006/relationships/notesSlide" Target="../notesSlides/notesSlide8.xml"/><Relationship Id="rId1" Type="http://schemas.openxmlformats.org/officeDocument/2006/relationships/chart" Target="../charts/chart1.xml"/></Relationships>
</file>

<file path=ppt/slides/_rels/slide11.xml.rels><?xml version="1.0" encoding="UTF-8" standalone="yes"?>
<Relationships xmlns="http://schemas.openxmlformats.org/package/2006/relationships"><Relationship Id="rId7" Type="http://schemas.openxmlformats.org/officeDocument/2006/relationships/notesSlide" Target="../notesSlides/notesSlide9.xml"/><Relationship Id="rId6" Type="http://schemas.openxmlformats.org/officeDocument/2006/relationships/slideLayout" Target="../slideLayouts/slideLayout12.xml"/><Relationship Id="rId5" Type="http://schemas.openxmlformats.org/officeDocument/2006/relationships/image" Target="../media/image48.svg"/><Relationship Id="rId4" Type="http://schemas.openxmlformats.org/officeDocument/2006/relationships/image" Target="../media/image47.png"/><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image" Target="../media/image14.jpeg"/></Relationships>
</file>

<file path=ppt/slides/_rels/slide1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1" Type="http://schemas.openxmlformats.org/officeDocument/2006/relationships/slideLayout" Target="../slideLayouts/slideLayout14.xml"/><Relationship Id="rId20" Type="http://schemas.openxmlformats.org/officeDocument/2006/relationships/tags" Target="../tags/tag20.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13.xml.rels><?xml version="1.0" encoding="UTF-8" standalone="yes"?>
<Relationships xmlns="http://schemas.openxmlformats.org/package/2006/relationships"><Relationship Id="rId9" Type="http://schemas.openxmlformats.org/officeDocument/2006/relationships/image" Target="../media/image55.png"/><Relationship Id="rId8" Type="http://schemas.openxmlformats.org/officeDocument/2006/relationships/image" Target="../media/image54.svg"/><Relationship Id="rId7" Type="http://schemas.openxmlformats.org/officeDocument/2006/relationships/image" Target="../media/image53.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52.svg"/><Relationship Id="rId3" Type="http://schemas.openxmlformats.org/officeDocument/2006/relationships/image" Target="../media/image51.png"/><Relationship Id="rId2" Type="http://schemas.openxmlformats.org/officeDocument/2006/relationships/image" Target="../media/image50.svg"/><Relationship Id="rId11" Type="http://schemas.openxmlformats.org/officeDocument/2006/relationships/slideLayout" Target="../slideLayouts/slideLayout14.xml"/><Relationship Id="rId10" Type="http://schemas.openxmlformats.org/officeDocument/2006/relationships/image" Target="../media/image56.svg"/><Relationship Id="rId1" Type="http://schemas.openxmlformats.org/officeDocument/2006/relationships/image" Target="../media/image49.png"/></Relationships>
</file>

<file path=ppt/slides/_rels/slide14.xml.rels><?xml version="1.0" encoding="UTF-8" standalone="yes"?>
<Relationships xmlns="http://schemas.openxmlformats.org/package/2006/relationships"><Relationship Id="rId9" Type="http://schemas.openxmlformats.org/officeDocument/2006/relationships/slideLayout" Target="../slideLayouts/slideLayout13.xml"/><Relationship Id="rId8" Type="http://schemas.openxmlformats.org/officeDocument/2006/relationships/image" Target="../media/image11.png"/><Relationship Id="rId7" Type="http://schemas.openxmlformats.org/officeDocument/2006/relationships/image" Target="../media/image13.png"/><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12.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p:cNvPicPr>
            <a:picLocks noChangeAspect="1"/>
          </p:cNvPicPr>
          <p:nvPr/>
        </p:nvPicPr>
        <p:blipFill>
          <a:blip r:embed="rId1" cstate="screen">
            <a:duotone>
              <a:schemeClr val="accent2">
                <a:shade val="45000"/>
                <a:satMod val="135000"/>
              </a:schemeClr>
              <a:prstClr val="white"/>
            </a:duotone>
          </a:blip>
          <a:stretch>
            <a:fillRect/>
          </a:stretch>
        </p:blipFill>
        <p:spPr>
          <a:xfrm>
            <a:off x="-1" y="0"/>
            <a:ext cx="12192001" cy="6858000"/>
          </a:xfrm>
          <a:prstGeom prst="rect">
            <a:avLst/>
          </a:prstGeom>
        </p:spPr>
      </p:pic>
      <p:pic>
        <p:nvPicPr>
          <p:cNvPr id="3" name="图片 2"/>
          <p:cNvPicPr>
            <a:picLocks noChangeAspect="1"/>
          </p:cNvPicPr>
          <p:nvPr/>
        </p:nvPicPr>
        <p:blipFill rotWithShape="1">
          <a:blip r:embed="rId2" cstate="screen"/>
          <a:srcRect/>
          <a:stretch>
            <a:fillRect/>
          </a:stretch>
        </p:blipFill>
        <p:spPr>
          <a:xfrm>
            <a:off x="10577195" y="3079115"/>
            <a:ext cx="1614805" cy="3778885"/>
          </a:xfrm>
          <a:prstGeom prst="rect">
            <a:avLst/>
          </a:prstGeom>
        </p:spPr>
      </p:pic>
      <p:pic>
        <p:nvPicPr>
          <p:cNvPr id="4" name="图片 3"/>
          <p:cNvPicPr>
            <a:picLocks noChangeAspect="1"/>
          </p:cNvPicPr>
          <p:nvPr/>
        </p:nvPicPr>
        <p:blipFill rotWithShape="1">
          <a:blip r:embed="rId3" cstate="screen"/>
          <a:srcRect/>
          <a:stretch>
            <a:fillRect/>
          </a:stretch>
        </p:blipFill>
        <p:spPr>
          <a:xfrm>
            <a:off x="0" y="5626136"/>
            <a:ext cx="3929435" cy="1244600"/>
          </a:xfrm>
          <a:prstGeom prst="rect">
            <a:avLst/>
          </a:prstGeom>
        </p:spPr>
      </p:pic>
      <p:pic>
        <p:nvPicPr>
          <p:cNvPr id="7" name="图片 6"/>
          <p:cNvPicPr>
            <a:picLocks noChangeAspect="1"/>
          </p:cNvPicPr>
          <p:nvPr/>
        </p:nvPicPr>
        <p:blipFill rotWithShape="1">
          <a:blip r:embed="rId4" cstate="screen"/>
          <a:srcRect/>
          <a:stretch>
            <a:fillRect/>
          </a:stretch>
        </p:blipFill>
        <p:spPr>
          <a:xfrm>
            <a:off x="0" y="0"/>
            <a:ext cx="4926330" cy="1962150"/>
          </a:xfrm>
          <a:prstGeom prst="rect">
            <a:avLst/>
          </a:prstGeom>
        </p:spPr>
      </p:pic>
      <p:pic>
        <p:nvPicPr>
          <p:cNvPr id="5" name="图片 4"/>
          <p:cNvPicPr>
            <a:picLocks noChangeAspect="1"/>
          </p:cNvPicPr>
          <p:nvPr/>
        </p:nvPicPr>
        <p:blipFill rotWithShape="1">
          <a:blip r:embed="rId5" cstate="screen"/>
          <a:srcRect/>
          <a:stretch>
            <a:fillRect/>
          </a:stretch>
        </p:blipFill>
        <p:spPr>
          <a:xfrm>
            <a:off x="3898994" y="0"/>
            <a:ext cx="2480733" cy="939800"/>
          </a:xfrm>
          <a:prstGeom prst="rect">
            <a:avLst/>
          </a:prstGeom>
        </p:spPr>
      </p:pic>
      <p:pic>
        <p:nvPicPr>
          <p:cNvPr id="10" name="图片 9"/>
          <p:cNvPicPr>
            <a:picLocks noChangeAspect="1"/>
          </p:cNvPicPr>
          <p:nvPr/>
        </p:nvPicPr>
        <p:blipFill rotWithShape="1">
          <a:blip r:embed="rId6" cstate="screen"/>
          <a:srcRect/>
          <a:stretch>
            <a:fillRect/>
          </a:stretch>
        </p:blipFill>
        <p:spPr>
          <a:xfrm>
            <a:off x="11454498" y="1390312"/>
            <a:ext cx="737502" cy="2116668"/>
          </a:xfrm>
          <a:prstGeom prst="rect">
            <a:avLst/>
          </a:prstGeom>
        </p:spPr>
      </p:pic>
      <p:pic>
        <p:nvPicPr>
          <p:cNvPr id="16" name="图片 15"/>
          <p:cNvPicPr>
            <a:picLocks noChangeAspect="1"/>
          </p:cNvPicPr>
          <p:nvPr/>
        </p:nvPicPr>
        <p:blipFill rotWithShape="1">
          <a:blip r:embed="rId7" cstate="screen"/>
          <a:srcRect/>
          <a:stretch>
            <a:fillRect/>
          </a:stretch>
        </p:blipFill>
        <p:spPr>
          <a:xfrm>
            <a:off x="1193165" y="6080125"/>
            <a:ext cx="9806305" cy="777875"/>
          </a:xfrm>
          <a:prstGeom prst="rect">
            <a:avLst/>
          </a:prstGeom>
        </p:spPr>
      </p:pic>
      <p:sp>
        <p:nvSpPr>
          <p:cNvPr id="2" name="文本框 1"/>
          <p:cNvSpPr txBox="1"/>
          <p:nvPr/>
        </p:nvSpPr>
        <p:spPr>
          <a:xfrm>
            <a:off x="7315200" y="550416"/>
            <a:ext cx="1393794" cy="230832"/>
          </a:xfrm>
          <a:prstGeom prst="rect">
            <a:avLst/>
          </a:prstGeom>
          <a:noFill/>
        </p:spPr>
        <p:txBody>
          <a:bodyPr wrap="square" rtlCol="0">
            <a:spAutoFit/>
          </a:bodyPr>
          <a:lstStyle/>
          <a:p>
            <a:r>
              <a:rPr lang="en-US" altLang="zh-CN" sz="900" dirty="0">
                <a:solidFill>
                  <a:srgbClr val="FEFDFC"/>
                </a:solidFill>
              </a:rPr>
              <a:t>https://www.ypppt.com/</a:t>
            </a:r>
            <a:endParaRPr lang="zh-CN" altLang="en-US" sz="900" dirty="0">
              <a:solidFill>
                <a:srgbClr val="FEFDFC"/>
              </a:solidFill>
            </a:endParaRPr>
          </a:p>
        </p:txBody>
      </p:sp>
      <p:sp>
        <p:nvSpPr>
          <p:cNvPr id="6" name="文本框 5"/>
          <p:cNvSpPr txBox="1"/>
          <p:nvPr/>
        </p:nvSpPr>
        <p:spPr>
          <a:xfrm>
            <a:off x="2216785" y="1390015"/>
            <a:ext cx="8516620" cy="1938020"/>
          </a:xfrm>
          <a:prstGeom prst="rect">
            <a:avLst/>
          </a:prstGeom>
          <a:noFill/>
        </p:spPr>
        <p:txBody>
          <a:bodyPr wrap="square" rtlCol="0" anchor="t">
            <a:spAutoFit/>
          </a:bodyPr>
          <a:p>
            <a:pPr indent="0" algn="ctr">
              <a:lnSpc>
                <a:spcPct val="125000"/>
              </a:lnSpc>
              <a:defRPr/>
            </a:pPr>
            <a:r>
              <a:rPr lang="en-US" sz="4800" b="1">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基于交互式需求澄清的</a:t>
            </a:r>
            <a:br>
              <a:rPr lang="en-US" sz="4800" b="1">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4800" b="1">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智能代码生成系统设计与实现</a:t>
            </a:r>
            <a:endParaRPr lang="en-US" altLang="en-US" sz="4800" b="1">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文本框 7"/>
          <p:cNvSpPr txBox="1"/>
          <p:nvPr/>
        </p:nvSpPr>
        <p:spPr>
          <a:xfrm>
            <a:off x="5603875" y="4080510"/>
            <a:ext cx="2240915" cy="541020"/>
          </a:xfrm>
          <a:prstGeom prst="rect">
            <a:avLst/>
          </a:prstGeom>
          <a:noFill/>
        </p:spPr>
        <p:txBody>
          <a:bodyPr wrap="square" rtlCol="0" anchor="t">
            <a:spAutoFit/>
          </a:bodyPr>
          <a:p>
            <a:pPr indent="0" algn="l">
              <a:lnSpc>
                <a:spcPct val="133000"/>
              </a:lnSpc>
              <a:defRPr/>
            </a:pPr>
            <a:r>
              <a:rPr lang="en-US" sz="2200">
                <a:solidFill>
                  <a:schemeClr val="tx1">
                    <a:alpha val="94902"/>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答辩人：</a:t>
            </a:r>
            <a:r>
              <a:rPr lang="zh-CN" altLang="en-US" sz="2200">
                <a:solidFill>
                  <a:schemeClr val="tx1">
                    <a:alpha val="94902"/>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邹媛媛</a:t>
            </a:r>
            <a:r>
              <a:rPr lang="en-US" sz="2200">
                <a:solidFill>
                  <a:schemeClr val="tx1">
                    <a:alpha val="94902"/>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endParaRPr lang="en-US" altLang="en-US" sz="2200">
              <a:solidFill>
                <a:schemeClr val="tx1">
                  <a:alpha val="94902"/>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p:cNvPicPr>
            <a:picLocks noChangeAspect="1"/>
          </p:cNvPicPr>
          <p:nvPr/>
        </p:nvPicPr>
        <p:blipFill>
          <a:blip r:embed="rId1" cstate="screen">
            <a:duotone>
              <a:schemeClr val="accent2">
                <a:shade val="45000"/>
                <a:satMod val="135000"/>
              </a:schemeClr>
              <a:prstClr val="white"/>
            </a:duotone>
          </a:blip>
          <a:stretch>
            <a:fillRect/>
          </a:stretch>
        </p:blipFill>
        <p:spPr>
          <a:xfrm>
            <a:off x="1473199" y="0"/>
            <a:ext cx="12192001" cy="6858000"/>
          </a:xfrm>
          <a:prstGeom prst="rect">
            <a:avLst/>
          </a:prstGeom>
        </p:spPr>
      </p:pic>
      <p:pic>
        <p:nvPicPr>
          <p:cNvPr id="4" name="图片 3"/>
          <p:cNvPicPr>
            <a:picLocks noChangeAspect="1"/>
          </p:cNvPicPr>
          <p:nvPr/>
        </p:nvPicPr>
        <p:blipFill rotWithShape="1">
          <a:blip r:embed="rId2" cstate="screen"/>
          <a:srcRect/>
          <a:stretch>
            <a:fillRect/>
          </a:stretch>
        </p:blipFill>
        <p:spPr>
          <a:xfrm rot="16200000">
            <a:off x="9599120" y="4283175"/>
            <a:ext cx="3929435" cy="1244600"/>
          </a:xfrm>
          <a:prstGeom prst="rect">
            <a:avLst/>
          </a:prstGeom>
        </p:spPr>
      </p:pic>
      <p:pic>
        <p:nvPicPr>
          <p:cNvPr id="10" name="图片 9"/>
          <p:cNvPicPr>
            <a:picLocks noChangeAspect="1"/>
          </p:cNvPicPr>
          <p:nvPr/>
        </p:nvPicPr>
        <p:blipFill rotWithShape="1">
          <a:blip r:embed="rId3" cstate="screen"/>
          <a:srcRect/>
          <a:stretch>
            <a:fillRect/>
          </a:stretch>
        </p:blipFill>
        <p:spPr>
          <a:xfrm>
            <a:off x="11454498" y="1967825"/>
            <a:ext cx="737502" cy="2116668"/>
          </a:xfrm>
          <a:prstGeom prst="rect">
            <a:avLst/>
          </a:prstGeom>
        </p:spPr>
      </p:pic>
      <p:pic>
        <p:nvPicPr>
          <p:cNvPr id="7" name="图片 6"/>
          <p:cNvPicPr>
            <a:picLocks noChangeAspect="1"/>
          </p:cNvPicPr>
          <p:nvPr/>
        </p:nvPicPr>
        <p:blipFill rotWithShape="1">
          <a:blip r:embed="rId4" cstate="screen"/>
          <a:srcRect/>
          <a:stretch>
            <a:fillRect/>
          </a:stretch>
        </p:blipFill>
        <p:spPr>
          <a:xfrm rot="5400000" flipV="1">
            <a:off x="-2228953" y="2220015"/>
            <a:ext cx="6400800" cy="1960771"/>
          </a:xfrm>
          <a:prstGeom prst="rect">
            <a:avLst/>
          </a:prstGeom>
        </p:spPr>
      </p:pic>
      <p:pic>
        <p:nvPicPr>
          <p:cNvPr id="13" name="图片 12"/>
          <p:cNvPicPr>
            <a:picLocks noChangeAspect="1"/>
          </p:cNvPicPr>
          <p:nvPr/>
        </p:nvPicPr>
        <p:blipFill rotWithShape="1">
          <a:blip r:embed="rId5" cstate="screen"/>
          <a:srcRect/>
          <a:stretch>
            <a:fillRect/>
          </a:stretch>
        </p:blipFill>
        <p:spPr>
          <a:xfrm rot="16001306">
            <a:off x="-856479" y="4478517"/>
            <a:ext cx="3080085" cy="1363579"/>
          </a:xfrm>
          <a:prstGeom prst="rect">
            <a:avLst/>
          </a:prstGeom>
        </p:spPr>
      </p:pic>
      <p:sp>
        <p:nvSpPr>
          <p:cNvPr id="2" name="文本框 1"/>
          <p:cNvSpPr txBox="1"/>
          <p:nvPr/>
        </p:nvSpPr>
        <p:spPr>
          <a:xfrm>
            <a:off x="2444115" y="1055370"/>
            <a:ext cx="4591050" cy="3918585"/>
          </a:xfrm>
          <a:prstGeom prst="rect">
            <a:avLst/>
          </a:prstGeom>
        </p:spPr>
        <p:txBody>
          <a:bodyPr wrap="square">
            <a:noAutofit/>
          </a:bodyPr>
          <a:p>
            <a:endParaRPr lang="en-US" altLang="zh-CN" sz="3400" b="1">
              <a:solidFill>
                <a:srgbClr val="333333"/>
              </a:solidFill>
              <a:latin typeface="Noto Sans SC" panose="020B0200000000000000" charset="-122"/>
              <a:ea typeface="Noto Sans SC" panose="020B0200000000000000" charset="-122"/>
            </a:endParaRPr>
          </a:p>
          <a:p>
            <a:r>
              <a:rPr lang="en-US" altLang="zh-CN" sz="2500" b="1">
                <a:solidFill>
                  <a:srgbClr val="00C2B4"/>
                </a:solidFill>
                <a:latin typeface="Poppins"/>
                <a:ea typeface="Poppins"/>
              </a:rPr>
              <a:t>01</a:t>
            </a:r>
            <a:endParaRPr lang="en-US" altLang="zh-CN" sz="2500" b="1">
              <a:solidFill>
                <a:srgbClr val="00C2B4"/>
              </a:solidFill>
              <a:latin typeface="Poppins"/>
              <a:ea typeface="Poppins"/>
            </a:endParaRPr>
          </a:p>
          <a:p>
            <a:r>
              <a:rPr lang="zh-CN" altLang="en-US" sz="2100">
                <a:solidFill>
                  <a:srgbClr val="333333"/>
                </a:solidFill>
                <a:latin typeface="Noto Sans SC" panose="020B0200000000000000" charset="-122"/>
                <a:ea typeface="Noto Sans SC" panose="020B0200000000000000" charset="-122"/>
              </a:rPr>
              <a:t>选题背景及意义</a:t>
            </a:r>
            <a:endParaRPr lang="zh-CN" altLang="en-US" sz="2100">
              <a:solidFill>
                <a:srgbClr val="333333"/>
              </a:solidFill>
              <a:latin typeface="Noto Sans SC" panose="020B0200000000000000" charset="-122"/>
              <a:ea typeface="Noto Sans SC" panose="020B0200000000000000" charset="-122"/>
            </a:endParaRPr>
          </a:p>
          <a:p>
            <a:r>
              <a:rPr lang="en-US" altLang="zh-CN" sz="1600">
                <a:solidFill>
                  <a:srgbClr val="666666"/>
                </a:solidFill>
                <a:latin typeface="Noto Sans SC" panose="020B0200000000000000" charset="-122"/>
                <a:ea typeface="Noto Sans SC" panose="020B0200000000000000" charset="-122"/>
              </a:rPr>
              <a:t>• </a:t>
            </a:r>
            <a:r>
              <a:rPr lang="zh-CN" altLang="en-US" sz="1600">
                <a:solidFill>
                  <a:srgbClr val="666666"/>
                </a:solidFill>
                <a:latin typeface="Noto Sans SC" panose="020B0200000000000000" charset="-122"/>
                <a:ea typeface="Noto Sans SC" panose="020B0200000000000000" charset="-122"/>
              </a:rPr>
              <a:t>研究背景与问题提出</a:t>
            </a:r>
            <a:endParaRPr lang="zh-CN" altLang="en-US" sz="1600">
              <a:solidFill>
                <a:srgbClr val="666666"/>
              </a:solidFill>
              <a:latin typeface="Noto Sans SC" panose="020B0200000000000000" charset="-122"/>
              <a:ea typeface="Noto Sans SC" panose="020B0200000000000000" charset="-122"/>
            </a:endParaRPr>
          </a:p>
          <a:p>
            <a:r>
              <a:rPr lang="en-US" altLang="zh-CN" sz="1600">
                <a:solidFill>
                  <a:srgbClr val="666666"/>
                </a:solidFill>
                <a:latin typeface="Noto Sans SC" panose="020B0200000000000000" charset="-122"/>
                <a:ea typeface="Noto Sans SC" panose="020B0200000000000000" charset="-122"/>
              </a:rPr>
              <a:t>• </a:t>
            </a:r>
            <a:r>
              <a:rPr lang="zh-CN" altLang="en-US" sz="1600">
                <a:solidFill>
                  <a:srgbClr val="666666"/>
                </a:solidFill>
                <a:latin typeface="Noto Sans SC" panose="020B0200000000000000" charset="-122"/>
                <a:ea typeface="Noto Sans SC" panose="020B0200000000000000" charset="-122"/>
              </a:rPr>
              <a:t>研究意义与目标</a:t>
            </a:r>
            <a:endParaRPr lang="zh-CN" altLang="en-US" sz="1600">
              <a:solidFill>
                <a:srgbClr val="666666"/>
              </a:solidFill>
              <a:latin typeface="Noto Sans SC" panose="020B0200000000000000" charset="-122"/>
              <a:ea typeface="Noto Sans SC" panose="020B0200000000000000" charset="-122"/>
            </a:endParaRPr>
          </a:p>
          <a:p>
            <a:endParaRPr lang="zh-CN" altLang="en-US" sz="1600">
              <a:solidFill>
                <a:srgbClr val="666666"/>
              </a:solidFill>
              <a:latin typeface="Noto Sans SC" panose="020B0200000000000000" charset="-122"/>
              <a:ea typeface="Noto Sans SC" panose="020B0200000000000000" charset="-122"/>
            </a:endParaRPr>
          </a:p>
          <a:p>
            <a:r>
              <a:rPr lang="en-US" altLang="zh-CN" sz="2500" b="1">
                <a:solidFill>
                  <a:srgbClr val="00C2B4"/>
                </a:solidFill>
                <a:latin typeface="Poppins"/>
                <a:ea typeface="Poppins"/>
              </a:rPr>
              <a:t>02</a:t>
            </a:r>
            <a:endParaRPr lang="en-US" altLang="zh-CN" sz="2500" b="1">
              <a:solidFill>
                <a:srgbClr val="00C2B4"/>
              </a:solidFill>
              <a:latin typeface="Poppins"/>
              <a:ea typeface="Poppins"/>
            </a:endParaRPr>
          </a:p>
          <a:p>
            <a:r>
              <a:rPr lang="zh-CN" altLang="en-US" sz="2100">
                <a:solidFill>
                  <a:srgbClr val="333333"/>
                </a:solidFill>
                <a:latin typeface="Noto Sans SC" panose="020B0200000000000000" charset="-122"/>
                <a:ea typeface="Noto Sans SC" panose="020B0200000000000000" charset="-122"/>
              </a:rPr>
              <a:t>研究问题、方法与过程</a:t>
            </a:r>
            <a:endParaRPr lang="zh-CN" altLang="en-US" sz="2100">
              <a:solidFill>
                <a:srgbClr val="333333"/>
              </a:solidFill>
              <a:latin typeface="Noto Sans SC" panose="020B0200000000000000" charset="-122"/>
              <a:ea typeface="Noto Sans SC" panose="020B0200000000000000" charset="-122"/>
            </a:endParaRPr>
          </a:p>
          <a:p>
            <a:r>
              <a:rPr lang="en-US" altLang="zh-CN" sz="1600">
                <a:solidFill>
                  <a:srgbClr val="666666"/>
                </a:solidFill>
                <a:latin typeface="Noto Sans SC" panose="020B0200000000000000" charset="-122"/>
                <a:ea typeface="Noto Sans SC" panose="020B0200000000000000" charset="-122"/>
              </a:rPr>
              <a:t>• </a:t>
            </a:r>
            <a:r>
              <a:rPr lang="zh-CN" altLang="en-US" sz="1600">
                <a:solidFill>
                  <a:srgbClr val="666666"/>
                </a:solidFill>
                <a:latin typeface="Noto Sans SC" panose="020B0200000000000000" charset="-122"/>
                <a:ea typeface="Noto Sans SC" panose="020B0200000000000000" charset="-122"/>
              </a:rPr>
              <a:t>核心研究问题</a:t>
            </a:r>
            <a:endParaRPr lang="zh-CN" altLang="en-US" sz="1600">
              <a:solidFill>
                <a:srgbClr val="666666"/>
              </a:solidFill>
              <a:latin typeface="Noto Sans SC" panose="020B0200000000000000" charset="-122"/>
              <a:ea typeface="Noto Sans SC" panose="020B0200000000000000" charset="-122"/>
            </a:endParaRPr>
          </a:p>
          <a:p>
            <a:r>
              <a:rPr lang="en-US" altLang="zh-CN" sz="1600">
                <a:solidFill>
                  <a:srgbClr val="666666"/>
                </a:solidFill>
                <a:latin typeface="Noto Sans SC" panose="020B0200000000000000" charset="-122"/>
                <a:ea typeface="Noto Sans SC" panose="020B0200000000000000" charset="-122"/>
              </a:rPr>
              <a:t>• </a:t>
            </a:r>
            <a:r>
              <a:rPr lang="zh-CN" altLang="en-US" sz="1600">
                <a:solidFill>
                  <a:srgbClr val="666666"/>
                </a:solidFill>
                <a:latin typeface="Noto Sans SC" panose="020B0200000000000000" charset="-122"/>
                <a:ea typeface="Noto Sans SC" panose="020B0200000000000000" charset="-122"/>
              </a:rPr>
              <a:t>研究方法与技术路线</a:t>
            </a:r>
            <a:endParaRPr lang="zh-CN" altLang="en-US" sz="1600">
              <a:solidFill>
                <a:srgbClr val="666666"/>
              </a:solidFill>
              <a:latin typeface="Noto Sans SC" panose="020B0200000000000000" charset="-122"/>
              <a:ea typeface="Noto Sans SC" panose="020B0200000000000000" charset="-122"/>
            </a:endParaRPr>
          </a:p>
          <a:p>
            <a:endParaRPr lang="zh-CN" altLang="en-US" sz="1600">
              <a:solidFill>
                <a:srgbClr val="666666"/>
              </a:solidFill>
              <a:latin typeface="Noto Sans SC" panose="020B0200000000000000" charset="-122"/>
              <a:ea typeface="Noto Sans SC" panose="020B0200000000000000" charset="-122"/>
            </a:endParaRPr>
          </a:p>
          <a:p>
            <a:r>
              <a:rPr lang="en-US" altLang="zh-CN" sz="2500" b="1">
                <a:solidFill>
                  <a:srgbClr val="00C2B4"/>
                </a:solidFill>
                <a:latin typeface="Poppins"/>
                <a:ea typeface="Poppins"/>
              </a:rPr>
              <a:t>03</a:t>
            </a:r>
            <a:endParaRPr lang="en-US" altLang="zh-CN" sz="2500" b="1">
              <a:solidFill>
                <a:srgbClr val="00C2B4"/>
              </a:solidFill>
              <a:latin typeface="Poppins"/>
              <a:ea typeface="Poppins"/>
            </a:endParaRPr>
          </a:p>
          <a:p>
            <a:r>
              <a:rPr lang="zh-CN" altLang="en-US" sz="2100">
                <a:solidFill>
                  <a:srgbClr val="333333"/>
                </a:solidFill>
                <a:latin typeface="Noto Sans SC" panose="020B0200000000000000" charset="-122"/>
                <a:ea typeface="Noto Sans SC" panose="020B0200000000000000" charset="-122"/>
              </a:rPr>
              <a:t>系统总体设计</a:t>
            </a:r>
            <a:endParaRPr lang="zh-CN" altLang="en-US" sz="2100">
              <a:solidFill>
                <a:srgbClr val="333333"/>
              </a:solidFill>
              <a:latin typeface="Noto Sans SC" panose="020B0200000000000000" charset="-122"/>
              <a:ea typeface="Noto Sans SC" panose="020B0200000000000000" charset="-122"/>
            </a:endParaRPr>
          </a:p>
          <a:p>
            <a:r>
              <a:rPr lang="en-US" altLang="zh-CN" sz="1600">
                <a:solidFill>
                  <a:srgbClr val="666666"/>
                </a:solidFill>
                <a:latin typeface="Noto Sans SC" panose="020B0200000000000000" charset="-122"/>
                <a:ea typeface="Noto Sans SC" panose="020B0200000000000000" charset="-122"/>
              </a:rPr>
              <a:t>• </a:t>
            </a:r>
            <a:r>
              <a:rPr lang="zh-CN" altLang="en-US" sz="1600">
                <a:solidFill>
                  <a:srgbClr val="666666"/>
                </a:solidFill>
                <a:latin typeface="Noto Sans SC" panose="020B0200000000000000" charset="-122"/>
                <a:ea typeface="Noto Sans SC" panose="020B0200000000000000" charset="-122"/>
              </a:rPr>
              <a:t>系统总体架构</a:t>
            </a:r>
            <a:endParaRPr lang="zh-CN" altLang="en-US" sz="1600">
              <a:solidFill>
                <a:srgbClr val="666666"/>
              </a:solidFill>
              <a:latin typeface="Noto Sans SC" panose="020B0200000000000000" charset="-122"/>
              <a:ea typeface="Noto Sans SC" panose="020B0200000000000000" charset="-122"/>
            </a:endParaRPr>
          </a:p>
          <a:p>
            <a:r>
              <a:rPr lang="en-US" altLang="zh-CN" sz="1600">
                <a:solidFill>
                  <a:srgbClr val="666666"/>
                </a:solidFill>
                <a:latin typeface="Noto Sans SC" panose="020B0200000000000000" charset="-122"/>
                <a:ea typeface="Noto Sans SC" panose="020B0200000000000000" charset="-122"/>
              </a:rPr>
              <a:t>• </a:t>
            </a:r>
            <a:r>
              <a:rPr lang="zh-CN" altLang="en-US" sz="1600">
                <a:solidFill>
                  <a:srgbClr val="666666"/>
                </a:solidFill>
                <a:latin typeface="Noto Sans SC" panose="020B0200000000000000" charset="-122"/>
                <a:ea typeface="Noto Sans SC" panose="020B0200000000000000" charset="-122"/>
              </a:rPr>
              <a:t>核心工作流与多智能体协作</a:t>
            </a:r>
            <a:endParaRPr lang="zh-CN" altLang="en-US" sz="1600">
              <a:solidFill>
                <a:srgbClr val="666666"/>
              </a:solidFill>
              <a:latin typeface="Noto Sans SC" panose="020B0200000000000000" charset="-122"/>
              <a:ea typeface="Noto Sans SC" panose="020B0200000000000000" charset="-122"/>
            </a:endParaRPr>
          </a:p>
          <a:p>
            <a:r>
              <a:rPr lang="en-US" altLang="zh-CN" sz="1600">
                <a:solidFill>
                  <a:srgbClr val="666666"/>
                </a:solidFill>
                <a:latin typeface="Noto Sans SC" panose="020B0200000000000000" charset="-122"/>
                <a:ea typeface="Noto Sans SC" panose="020B0200000000000000" charset="-122"/>
              </a:rPr>
              <a:t>• </a:t>
            </a:r>
            <a:r>
              <a:rPr lang="zh-CN" altLang="en-US" sz="1600">
                <a:solidFill>
                  <a:srgbClr val="666666"/>
                </a:solidFill>
                <a:latin typeface="Noto Sans SC" panose="020B0200000000000000" charset="-122"/>
                <a:ea typeface="Noto Sans SC" panose="020B0200000000000000" charset="-122"/>
              </a:rPr>
              <a:t>关键技术设计详解</a:t>
            </a:r>
            <a:endParaRPr lang="zh-CN" altLang="en-US" sz="1600">
              <a:solidFill>
                <a:srgbClr val="666666"/>
              </a:solidFill>
              <a:latin typeface="Noto Sans SC" panose="020B0200000000000000" charset="-122"/>
              <a:ea typeface="Noto Sans SC" panose="020B0200000000000000" charset="-122"/>
            </a:endParaRPr>
          </a:p>
          <a:p>
            <a:endParaRPr lang="zh-CN" altLang="en-US" sz="1600">
              <a:solidFill>
                <a:srgbClr val="666666"/>
              </a:solidFill>
              <a:latin typeface="Noto Sans SC" panose="020B0200000000000000" charset="-122"/>
              <a:ea typeface="Noto Sans SC" panose="020B0200000000000000" charset="-122"/>
            </a:endParaRPr>
          </a:p>
        </p:txBody>
      </p:sp>
      <p:sp>
        <p:nvSpPr>
          <p:cNvPr id="6" name="文本框 5"/>
          <p:cNvSpPr txBox="1"/>
          <p:nvPr/>
        </p:nvSpPr>
        <p:spPr>
          <a:xfrm>
            <a:off x="6972935" y="1675765"/>
            <a:ext cx="6096000" cy="3969385"/>
          </a:xfrm>
          <a:prstGeom prst="rect">
            <a:avLst/>
          </a:prstGeom>
          <a:noFill/>
        </p:spPr>
        <p:txBody>
          <a:bodyPr wrap="square" rtlCol="0" anchor="t">
            <a:spAutoFit/>
          </a:bodyPr>
          <a:p>
            <a:r>
              <a:rPr lang="en-US" altLang="zh-CN" sz="2500" b="1">
                <a:solidFill>
                  <a:srgbClr val="00C2B4"/>
                </a:solidFill>
                <a:latin typeface="Poppins"/>
                <a:ea typeface="Poppins"/>
                <a:sym typeface="+mn-ea"/>
              </a:rPr>
              <a:t>04</a:t>
            </a:r>
            <a:endParaRPr lang="en-US" altLang="zh-CN" sz="2500" b="1">
              <a:solidFill>
                <a:srgbClr val="00C2B4"/>
              </a:solidFill>
              <a:latin typeface="Poppins"/>
              <a:ea typeface="Poppins"/>
            </a:endParaRPr>
          </a:p>
          <a:p>
            <a:r>
              <a:rPr lang="zh-CN" altLang="en-US" sz="2100">
                <a:solidFill>
                  <a:srgbClr val="333333"/>
                </a:solidFill>
                <a:latin typeface="Noto Sans SC" panose="020B0200000000000000" charset="-122"/>
                <a:ea typeface="Noto Sans SC" panose="020B0200000000000000" charset="-122"/>
                <a:sym typeface="+mn-ea"/>
              </a:rPr>
              <a:t>研究结果</a:t>
            </a:r>
            <a:endParaRPr lang="zh-CN" altLang="en-US" sz="2100">
              <a:solidFill>
                <a:srgbClr val="333333"/>
              </a:solidFill>
              <a:latin typeface="Noto Sans SC" panose="020B0200000000000000" charset="-122"/>
              <a:ea typeface="Noto Sans SC" panose="020B0200000000000000" charset="-122"/>
            </a:endParaRPr>
          </a:p>
          <a:p>
            <a:r>
              <a:rPr lang="en-US" altLang="zh-CN" sz="1600">
                <a:solidFill>
                  <a:srgbClr val="666666"/>
                </a:solidFill>
                <a:latin typeface="Noto Sans SC" panose="020B0200000000000000" charset="-122"/>
                <a:ea typeface="Noto Sans SC" panose="020B0200000000000000" charset="-122"/>
                <a:sym typeface="+mn-ea"/>
              </a:rPr>
              <a:t>• </a:t>
            </a:r>
            <a:r>
              <a:rPr lang="zh-CN" altLang="en-US" sz="1600">
                <a:solidFill>
                  <a:srgbClr val="666666"/>
                </a:solidFill>
                <a:latin typeface="Noto Sans SC" panose="020B0200000000000000" charset="-122"/>
                <a:ea typeface="Noto Sans SC" panose="020B0200000000000000" charset="-122"/>
                <a:sym typeface="+mn-ea"/>
              </a:rPr>
              <a:t>实验设计与核心结果</a:t>
            </a:r>
            <a:endParaRPr lang="zh-CN" altLang="en-US" sz="1600">
              <a:solidFill>
                <a:srgbClr val="666666"/>
              </a:solidFill>
              <a:latin typeface="Noto Sans SC" panose="020B0200000000000000" charset="-122"/>
              <a:ea typeface="Noto Sans SC" panose="020B0200000000000000" charset="-122"/>
            </a:endParaRPr>
          </a:p>
          <a:p>
            <a:r>
              <a:rPr lang="en-US" altLang="zh-CN" sz="1600">
                <a:solidFill>
                  <a:srgbClr val="666666"/>
                </a:solidFill>
                <a:latin typeface="Noto Sans SC" panose="020B0200000000000000" charset="-122"/>
                <a:ea typeface="Noto Sans SC" panose="020B0200000000000000" charset="-122"/>
                <a:sym typeface="+mn-ea"/>
              </a:rPr>
              <a:t>• </a:t>
            </a:r>
            <a:r>
              <a:rPr lang="zh-CN" altLang="en-US" sz="1600">
                <a:solidFill>
                  <a:srgbClr val="666666"/>
                </a:solidFill>
                <a:latin typeface="Noto Sans SC" panose="020B0200000000000000" charset="-122"/>
                <a:ea typeface="Noto Sans SC" panose="020B0200000000000000" charset="-122"/>
                <a:sym typeface="+mn-ea"/>
              </a:rPr>
              <a:t>系统功能与性能验证</a:t>
            </a:r>
            <a:endParaRPr lang="zh-CN" altLang="en-US" sz="1600">
              <a:solidFill>
                <a:srgbClr val="666666"/>
              </a:solidFill>
              <a:latin typeface="Noto Sans SC" panose="020B0200000000000000" charset="-122"/>
              <a:ea typeface="Noto Sans SC" panose="020B0200000000000000" charset="-122"/>
              <a:sym typeface="+mn-ea"/>
            </a:endParaRPr>
          </a:p>
          <a:p>
            <a:endParaRPr lang="zh-CN" altLang="en-US" sz="1600">
              <a:solidFill>
                <a:srgbClr val="666666"/>
              </a:solidFill>
              <a:latin typeface="Noto Sans SC" panose="020B0200000000000000" charset="-122"/>
              <a:ea typeface="Noto Sans SC" panose="020B0200000000000000" charset="-122"/>
              <a:sym typeface="+mn-ea"/>
            </a:endParaRPr>
          </a:p>
          <a:p>
            <a:endParaRPr lang="zh-CN" altLang="en-US" sz="1600">
              <a:solidFill>
                <a:srgbClr val="666666"/>
              </a:solidFill>
              <a:latin typeface="Noto Sans SC" panose="020B0200000000000000" charset="-122"/>
              <a:ea typeface="Noto Sans SC" panose="020B0200000000000000" charset="-122"/>
              <a:sym typeface="+mn-ea"/>
            </a:endParaRPr>
          </a:p>
          <a:p>
            <a:endParaRPr lang="zh-CN" altLang="en-US" sz="1600">
              <a:solidFill>
                <a:srgbClr val="666666"/>
              </a:solidFill>
              <a:latin typeface="Noto Sans SC" panose="020B0200000000000000" charset="-122"/>
              <a:ea typeface="Noto Sans SC" panose="020B0200000000000000" charset="-122"/>
              <a:sym typeface="+mn-ea"/>
            </a:endParaRPr>
          </a:p>
          <a:p>
            <a:endParaRPr lang="zh-CN" altLang="en-US" sz="1600">
              <a:solidFill>
                <a:srgbClr val="666666"/>
              </a:solidFill>
              <a:latin typeface="Noto Sans SC" panose="020B0200000000000000" charset="-122"/>
              <a:ea typeface="Noto Sans SC" panose="020B0200000000000000" charset="-122"/>
              <a:sym typeface="+mn-ea"/>
            </a:endParaRPr>
          </a:p>
          <a:p>
            <a:endParaRPr lang="zh-CN" altLang="en-US" sz="1600">
              <a:solidFill>
                <a:srgbClr val="666666"/>
              </a:solidFill>
              <a:latin typeface="Noto Sans SC" panose="020B0200000000000000" charset="-122"/>
              <a:ea typeface="Noto Sans SC" panose="020B0200000000000000" charset="-122"/>
            </a:endParaRPr>
          </a:p>
          <a:p>
            <a:r>
              <a:rPr lang="en-US" altLang="zh-CN" sz="2500" b="1">
                <a:solidFill>
                  <a:srgbClr val="00C2B4"/>
                </a:solidFill>
                <a:latin typeface="Poppins"/>
                <a:ea typeface="Poppins"/>
                <a:sym typeface="+mn-ea"/>
              </a:rPr>
              <a:t>05</a:t>
            </a:r>
            <a:endParaRPr lang="en-US" altLang="zh-CN" sz="2500" b="1">
              <a:solidFill>
                <a:srgbClr val="00C2B4"/>
              </a:solidFill>
              <a:latin typeface="Poppins"/>
              <a:ea typeface="Poppins"/>
            </a:endParaRPr>
          </a:p>
          <a:p>
            <a:r>
              <a:rPr lang="zh-CN" altLang="en-US" sz="2100">
                <a:solidFill>
                  <a:srgbClr val="333333"/>
                </a:solidFill>
                <a:latin typeface="Noto Sans SC" panose="020B0200000000000000" charset="-122"/>
                <a:ea typeface="Noto Sans SC" panose="020B0200000000000000" charset="-122"/>
                <a:sym typeface="+mn-ea"/>
              </a:rPr>
              <a:t>创新性、不足及总结</a:t>
            </a:r>
            <a:endParaRPr lang="zh-CN" altLang="en-US" sz="2100">
              <a:solidFill>
                <a:srgbClr val="333333"/>
              </a:solidFill>
              <a:latin typeface="Noto Sans SC" panose="020B0200000000000000" charset="-122"/>
              <a:ea typeface="Noto Sans SC" panose="020B0200000000000000" charset="-122"/>
            </a:endParaRPr>
          </a:p>
          <a:p>
            <a:r>
              <a:rPr lang="en-US" altLang="zh-CN" sz="1600">
                <a:solidFill>
                  <a:srgbClr val="666666"/>
                </a:solidFill>
                <a:latin typeface="Noto Sans SC" panose="020B0200000000000000" charset="-122"/>
                <a:ea typeface="Noto Sans SC" panose="020B0200000000000000" charset="-122"/>
                <a:sym typeface="+mn-ea"/>
              </a:rPr>
              <a:t>• </a:t>
            </a:r>
            <a:r>
              <a:rPr lang="zh-CN" altLang="en-US" sz="1600">
                <a:solidFill>
                  <a:srgbClr val="666666"/>
                </a:solidFill>
                <a:latin typeface="Noto Sans SC" panose="020B0200000000000000" charset="-122"/>
                <a:ea typeface="Noto Sans SC" panose="020B0200000000000000" charset="-122"/>
                <a:sym typeface="+mn-ea"/>
              </a:rPr>
              <a:t>主要创新点与贡献</a:t>
            </a:r>
            <a:endParaRPr lang="zh-CN" altLang="en-US" sz="1600">
              <a:solidFill>
                <a:srgbClr val="666666"/>
              </a:solidFill>
              <a:latin typeface="Noto Sans SC" panose="020B0200000000000000" charset="-122"/>
              <a:ea typeface="Noto Sans SC" panose="020B0200000000000000" charset="-122"/>
            </a:endParaRPr>
          </a:p>
          <a:p>
            <a:r>
              <a:rPr lang="en-US" altLang="zh-CN" sz="1600">
                <a:solidFill>
                  <a:srgbClr val="666666"/>
                </a:solidFill>
                <a:latin typeface="Noto Sans SC" panose="020B0200000000000000" charset="-122"/>
                <a:ea typeface="Noto Sans SC" panose="020B0200000000000000" charset="-122"/>
                <a:sym typeface="+mn-ea"/>
              </a:rPr>
              <a:t>• </a:t>
            </a:r>
            <a:r>
              <a:rPr lang="zh-CN" altLang="en-US" sz="1600">
                <a:solidFill>
                  <a:srgbClr val="666666"/>
                </a:solidFill>
                <a:latin typeface="Noto Sans SC" panose="020B0200000000000000" charset="-122"/>
                <a:ea typeface="Noto Sans SC" panose="020B0200000000000000" charset="-122"/>
                <a:sym typeface="+mn-ea"/>
              </a:rPr>
              <a:t>不足与未来展望</a:t>
            </a:r>
            <a:endParaRPr lang="zh-CN" altLang="en-US" sz="1600">
              <a:solidFill>
                <a:srgbClr val="666666"/>
              </a:solidFill>
              <a:latin typeface="Noto Sans SC" panose="020B0200000000000000" charset="-122"/>
              <a:ea typeface="Noto Sans SC" panose="020B0200000000000000" charset="-122"/>
            </a:endParaRPr>
          </a:p>
          <a:p>
            <a:r>
              <a:rPr lang="en-US" altLang="zh-CN" sz="1600">
                <a:solidFill>
                  <a:srgbClr val="666666"/>
                </a:solidFill>
                <a:latin typeface="Noto Sans SC" panose="020B0200000000000000" charset="-122"/>
                <a:ea typeface="Noto Sans SC" panose="020B0200000000000000" charset="-122"/>
                <a:sym typeface="+mn-ea"/>
              </a:rPr>
              <a:t>• </a:t>
            </a:r>
            <a:r>
              <a:rPr lang="zh-CN" altLang="en-US" sz="1600">
                <a:solidFill>
                  <a:srgbClr val="666666"/>
                </a:solidFill>
                <a:latin typeface="Noto Sans SC" panose="020B0200000000000000" charset="-122"/>
                <a:ea typeface="Noto Sans SC" panose="020B0200000000000000" charset="-122"/>
                <a:sym typeface="+mn-ea"/>
              </a:rPr>
              <a:t>总结与致谢</a:t>
            </a:r>
            <a:endParaRPr lang="zh-CN" altLang="en-US" sz="1600">
              <a:solidFill>
                <a:srgbClr val="666666"/>
              </a:solidFill>
              <a:latin typeface="Noto Sans SC" panose="020B0200000000000000" charset="-122"/>
              <a:ea typeface="Noto Sans SC" panose="020B0200000000000000" charset="-122"/>
              <a:sym typeface="+mn-ea"/>
            </a:endParaRPr>
          </a:p>
        </p:txBody>
      </p:sp>
      <p:sp>
        <p:nvSpPr>
          <p:cNvPr id="8" name="文本框 7"/>
          <p:cNvSpPr txBox="1"/>
          <p:nvPr/>
        </p:nvSpPr>
        <p:spPr>
          <a:xfrm>
            <a:off x="2256155" y="659130"/>
            <a:ext cx="6096000" cy="614045"/>
          </a:xfrm>
          <a:prstGeom prst="rect">
            <a:avLst/>
          </a:prstGeom>
          <a:noFill/>
        </p:spPr>
        <p:txBody>
          <a:bodyPr wrap="square" rtlCol="0" anchor="t">
            <a:spAutoFit/>
          </a:bodyPr>
          <a:p>
            <a:r>
              <a:rPr lang="zh-CN" altLang="en-US" sz="3400" b="1">
                <a:solidFill>
                  <a:srgbClr val="333333"/>
                </a:solidFill>
                <a:latin typeface="Noto Sans SC" panose="020B0200000000000000" charset="-122"/>
                <a:ea typeface="Noto Sans SC" panose="020B0200000000000000" charset="-122"/>
                <a:sym typeface="+mn-ea"/>
              </a:rPr>
              <a:t>目录 </a:t>
            </a:r>
            <a:r>
              <a:rPr lang="en-US" altLang="zh-CN" sz="3400" b="1">
                <a:solidFill>
                  <a:srgbClr val="333333"/>
                </a:solidFill>
                <a:latin typeface="Noto Sans SC" panose="020B0200000000000000" charset="-122"/>
                <a:ea typeface="Noto Sans SC" panose="020B0200000000000000" charset="-122"/>
                <a:sym typeface="+mn-ea"/>
              </a:rPr>
              <a:t>CONTENTS</a:t>
            </a:r>
            <a:endParaRPr lang="en-US" altLang="zh-CN" sz="3400" b="1">
              <a:solidFill>
                <a:srgbClr val="333333"/>
              </a:solidFill>
              <a:latin typeface="Noto Sans SC" panose="020B0200000000000000" charset="-122"/>
              <a:ea typeface="Noto Sans SC" panose="020B0200000000000000" charset="-122"/>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01 研究背景与问题提出</a:t>
            </a:r>
            <a:endParaRPr lang="en-US" sz="1100"/>
          </a:p>
        </p:txBody>
      </p:sp>
      <p:sp>
        <p:nvSpPr>
          <p:cNvPr id="4" name="AutoShape 4"/>
          <p:cNvSpPr/>
          <p:nvPr/>
        </p:nvSpPr>
        <p:spPr>
          <a:xfrm>
            <a:off x="762000" y="1651000"/>
            <a:ext cx="10668000" cy="1397000"/>
          </a:xfrm>
          <a:prstGeom prst="roundRect">
            <a:avLst>
              <a:gd name="adj" fmla="val 10909"/>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5" name="AutoShape 5"/>
          <p:cNvSpPr/>
          <p:nvPr/>
        </p:nvSpPr>
        <p:spPr>
          <a:xfrm>
            <a:off x="1016000" y="1841500"/>
            <a:ext cx="7874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C2B4"/>
                </a:solidFill>
                <a:latin typeface="Noto Sans SC" panose="020B0200000000000000" charset="-122"/>
                <a:ea typeface="Noto Sans SC" panose="020B0200000000000000" charset="-122"/>
                <a:cs typeface="Noto Sans SC" panose="020B0200000000000000" charset="-122"/>
                <a:sym typeface="Noto Sans SC" panose="020B0200000000000000" charset="-122"/>
              </a:rPr>
              <a:t>大模型时代的代码生成</a:t>
            </a:r>
            <a:endParaRPr lang="en-US" sz="1100"/>
          </a:p>
          <a:p>
            <a:pPr indent="0" algn="l">
              <a:lnSpc>
                <a:spcPct val="108000"/>
              </a:lnSpc>
              <a:spcBef>
                <a:spcPts val="800"/>
              </a:spcBef>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以</a:t>
            </a:r>
            <a:r>
              <a:rPr lang="en-US" sz="13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GitHub Copilot</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为代表的 AI 编程工具，通过学习海量开源代码库，能根据自然语言描述自动生成高质量代码片段，显著降低开发门槛，大幅提升了软件开发的整体效率与体验。</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6" name="Picture 6"/>
          <p:cNvPicPr>
            <a:picLocks noChangeAspect="1"/>
          </p:cNvPicPr>
          <p:nvPr/>
        </p:nvPicPr>
        <p:blipFill>
          <a:blip r:embed="rId2"/>
          <a:srcRect t="2380" b="2380"/>
          <a:stretch>
            <a:fillRect/>
          </a:stretch>
        </p:blipFill>
        <p:spPr>
          <a:xfrm>
            <a:off x="9017000" y="1841500"/>
            <a:ext cx="2032000" cy="1016000"/>
          </a:xfrm>
          <a:prstGeom prst="rect">
            <a:avLst/>
          </a:prstGeom>
          <a:noFill/>
          <a:ln w="25400" cap="flat" cmpd="sng">
            <a:noFill/>
            <a:prstDash val="solid"/>
            <a:round/>
          </a:ln>
        </p:spPr>
      </p:pic>
      <p:sp>
        <p:nvSpPr>
          <p:cNvPr id="7" name="AutoShape 7"/>
          <p:cNvSpPr/>
          <p:nvPr/>
        </p:nvSpPr>
        <p:spPr>
          <a:xfrm>
            <a:off x="762000" y="3302000"/>
            <a:ext cx="5207000" cy="1651000"/>
          </a:xfrm>
          <a:prstGeom prst="roundRect">
            <a:avLst>
              <a:gd name="adj" fmla="val 7692"/>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8" name="AutoShape 8"/>
          <p:cNvSpPr/>
          <p:nvPr/>
        </p:nvSpPr>
        <p:spPr>
          <a:xfrm>
            <a:off x="762000" y="3302000"/>
            <a:ext cx="101600" cy="1651000"/>
          </a:xfrm>
          <a:prstGeom prst="roundRect">
            <a:avLst>
              <a:gd name="adj" fmla="val 0"/>
            </a:avLst>
          </a:prstGeom>
          <a:solidFill>
            <a:srgbClr val="00C2B4">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079500" y="3429000"/>
            <a:ext cx="4572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模型困境：概率性猜测的局限</a:t>
            </a:r>
            <a:endParaRPr lang="en-US" sz="1100"/>
          </a:p>
          <a:p>
            <a:pPr indent="0" algn="l">
              <a:lnSpc>
                <a:spcPct val="108000"/>
              </a:lnSpc>
              <a:spcBef>
                <a:spcPts val="800"/>
              </a:spcBef>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在面对模糊、不完整或歧义的需求时，模型无法真正理解用户深层意图，只能基于统计规律进行“概率性猜测”，极易生成偏离预期的代码，难以保证正确性。</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6223000" y="3302000"/>
            <a:ext cx="5207000" cy="1651000"/>
          </a:xfrm>
          <a:prstGeom prst="roundRect">
            <a:avLst>
              <a:gd name="adj" fmla="val 7692"/>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1" name="AutoShape 11"/>
          <p:cNvSpPr/>
          <p:nvPr/>
        </p:nvSpPr>
        <p:spPr>
          <a:xfrm>
            <a:off x="6223000" y="3302000"/>
            <a:ext cx="101600" cy="16510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6540500" y="3429000"/>
            <a:ext cx="4572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开发者困境：高昂的调试成本</a:t>
            </a:r>
            <a:endParaRPr lang="en-US" sz="1100"/>
          </a:p>
          <a:p>
            <a:pPr indent="0" algn="l">
              <a:lnSpc>
                <a:spcPct val="108000"/>
              </a:lnSpc>
              <a:spcBef>
                <a:spcPts val="800"/>
              </a:spcBef>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开发者需要花费大量时间去理解、编辑和调试这些“看似正确”的生成代码，修复逻辑错误与适配业务场景，导致开发效率的实际收益大打折扣。</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762000" y="5207000"/>
            <a:ext cx="10668000" cy="1270000"/>
          </a:xfrm>
          <a:prstGeom prst="roundRect">
            <a:avLst>
              <a:gd name="adj" fmla="val 10000"/>
            </a:avLst>
          </a:prstGeom>
          <a:solidFill>
            <a:schemeClr val="accent5">
              <a:lumMod val="20000"/>
              <a:lumOff val="80000"/>
            </a:schemeClr>
          </a:solidFill>
          <a:ln w="25400" cap="flat" cmpd="sng">
            <a:noFill/>
            <a:prstDash val="solid"/>
            <a:round/>
          </a:ln>
        </p:spPr>
        <p:txBody>
          <a:bodyPr vert="horz" wrap="square" lIns="63500" tIns="63500" rIns="63500" bIns="63500" rtlCol="0" anchor="ctr"/>
          <a:lstStyle/>
          <a:p>
            <a:pPr algn="ctr">
              <a:defRPr/>
            </a:pPr>
            <a:endParaRPr>
              <a:solidFill>
                <a:schemeClr val="tx1"/>
              </a:solidFill>
            </a:endParaRPr>
          </a:p>
        </p:txBody>
      </p:sp>
      <p:sp>
        <p:nvSpPr>
          <p:cNvPr id="14" name="AutoShape 14"/>
          <p:cNvSpPr/>
          <p:nvPr/>
        </p:nvSpPr>
        <p:spPr>
          <a:xfrm>
            <a:off x="1016000" y="5397500"/>
            <a:ext cx="10160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0C2B4"/>
                </a:solidFill>
                <a:latin typeface="Noto Sans SC" panose="020B0200000000000000" charset="-122"/>
                <a:ea typeface="Noto Sans SC" panose="020B0200000000000000" charset="-122"/>
                <a:cs typeface="Noto Sans SC" panose="020B0200000000000000" charset="-122"/>
                <a:sym typeface="Noto Sans SC" panose="020B0200000000000000" charset="-122"/>
              </a:rPr>
              <a:t>🔍 研究问题的提出</a:t>
            </a:r>
            <a:endParaRPr lang="en-US" sz="1100"/>
          </a:p>
          <a:p>
            <a:pPr indent="0" algn="ctr">
              <a:lnSpc>
                <a:spcPct val="125000"/>
              </a:lnSpc>
              <a:spcBef>
                <a:spcPts val="1000"/>
              </a:spcBef>
            </a:pPr>
            <a:r>
              <a:rPr lang="en-US" sz="15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如何有效解决</a:t>
            </a:r>
            <a:r>
              <a:rPr lang="en-US" sz="15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“需求模糊性”</a:t>
            </a:r>
            <a:r>
              <a:rPr lang="en-US" sz="15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与</a:t>
            </a:r>
            <a:r>
              <a:rPr lang="en-US" sz="15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“模型非确定性”</a:t>
            </a:r>
            <a:r>
              <a:rPr lang="en-US" sz="15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之间的“语义鸿沟”，</a:t>
            </a:r>
            <a:br>
              <a:rPr lang="en-US" sz="16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5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推动 AI 辅助代码生成从“演示级”向</a:t>
            </a:r>
            <a:r>
              <a:rPr lang="en-US" sz="15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高可靠性的“生产级”</a:t>
            </a:r>
            <a:r>
              <a:rPr lang="en-US" sz="15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跨越？</a:t>
            </a:r>
            <a:endParaRPr lang="en-US" sz="15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01 研究意义与目标</a:t>
            </a:r>
            <a:endParaRPr lang="en-US" sz="1100"/>
          </a:p>
        </p:txBody>
      </p:sp>
      <p:sp>
        <p:nvSpPr>
          <p:cNvPr id="4" name="AutoShape 4"/>
          <p:cNvSpPr/>
          <p:nvPr/>
        </p:nvSpPr>
        <p:spPr>
          <a:xfrm>
            <a:off x="762000" y="1778000"/>
            <a:ext cx="5207000" cy="4445000"/>
          </a:xfrm>
          <a:prstGeom prst="roundRect">
            <a:avLst>
              <a:gd name="adj" fmla="val 3428"/>
            </a:avLst>
          </a:prstGeom>
          <a:solidFill>
            <a:srgbClr val="FFFFFF">
              <a:alpha val="95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5" name="AutoShape 5"/>
          <p:cNvSpPr/>
          <p:nvPr/>
        </p:nvSpPr>
        <p:spPr>
          <a:xfrm>
            <a:off x="1066800" y="2082800"/>
            <a:ext cx="4572000" cy="431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00C2B4"/>
                </a:solidFill>
                <a:latin typeface="Noto Sans SC" panose="020B0200000000000000" charset="-122"/>
                <a:ea typeface="Noto Sans SC" panose="020B0200000000000000" charset="-122"/>
                <a:cs typeface="Noto Sans SC" panose="020B0200000000000000" charset="-122"/>
                <a:sym typeface="Noto Sans SC" panose="020B0200000000000000" charset="-122"/>
              </a:rPr>
              <a:t>▍ 研究意义</a:t>
            </a:r>
            <a:endParaRPr lang="en-US" sz="1100"/>
          </a:p>
        </p:txBody>
      </p:sp>
      <p:sp>
        <p:nvSpPr>
          <p:cNvPr id="6" name="AutoShape 6"/>
          <p:cNvSpPr/>
          <p:nvPr/>
        </p:nvSpPr>
        <p:spPr>
          <a:xfrm>
            <a:off x="1066800" y="2794000"/>
            <a:ext cx="4572000" cy="114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理论意义</a:t>
            </a:r>
            <a:endParaRPr lang="en-US" sz="1100"/>
          </a:p>
          <a:p>
            <a:pPr indent="0" algn="l">
              <a:lnSpc>
                <a:spcPct val="117000"/>
              </a:lnSpc>
              <a:spcBef>
                <a:spcPts val="600"/>
              </a:spcBef>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探索“人在回路”(Human-in-the-loop)在代码生成领域的应用模式。</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丰富人机协同智能的理论体系，为解决复杂任务提供新思路。</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1066800" y="4191000"/>
            <a:ext cx="4572000" cy="177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实践价值</a:t>
            </a:r>
            <a:endParaRPr lang="en-US" sz="1100"/>
          </a:p>
          <a:p>
            <a:pPr indent="0" algn="l">
              <a:lnSpc>
                <a:spcPct val="117000"/>
              </a:lnSpc>
              <a:spcBef>
                <a:spcPts val="600"/>
              </a:spcBef>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降低沟通成本：</a:t>
            </a: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减少因需求理解偏差导致的反复沟通。</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提升开发效率：</a:t>
            </a: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减少调试时间，聚焦业务逻辑与创新。</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降低编程门槛：</a:t>
            </a: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帮助非专业人员快速转化想法为代码原型。</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6223000" y="1778000"/>
            <a:ext cx="5207000" cy="4445000"/>
          </a:xfrm>
          <a:prstGeom prst="roundRect">
            <a:avLst>
              <a:gd name="adj" fmla="val 3428"/>
            </a:avLst>
          </a:prstGeom>
          <a:solidFill>
            <a:srgbClr val="FFFFFF">
              <a:alpha val="95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9" name="AutoShape 9"/>
          <p:cNvSpPr/>
          <p:nvPr/>
        </p:nvSpPr>
        <p:spPr>
          <a:xfrm>
            <a:off x="6527800" y="2082800"/>
            <a:ext cx="4572000" cy="431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00C2B4"/>
                </a:solidFill>
                <a:latin typeface="Noto Sans SC" panose="020B0200000000000000" charset="-122"/>
                <a:ea typeface="Noto Sans SC" panose="020B0200000000000000" charset="-122"/>
                <a:cs typeface="Noto Sans SC" panose="020B0200000000000000" charset="-122"/>
                <a:sym typeface="Noto Sans SC" panose="020B0200000000000000" charset="-122"/>
              </a:rPr>
              <a:t>▍ 研究目标</a:t>
            </a:r>
            <a:endParaRPr lang="en-US" sz="1100"/>
          </a:p>
        </p:txBody>
      </p:sp>
      <p:pic>
        <p:nvPicPr>
          <p:cNvPr id="10" name="Picture 10"/>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27800" y="2921000"/>
            <a:ext cx="355600" cy="355600"/>
          </a:xfrm>
          <a:prstGeom prst="rect">
            <a:avLst/>
          </a:prstGeom>
        </p:spPr>
      </p:pic>
      <p:sp>
        <p:nvSpPr>
          <p:cNvPr id="11" name="AutoShape 11"/>
          <p:cNvSpPr/>
          <p:nvPr/>
        </p:nvSpPr>
        <p:spPr>
          <a:xfrm>
            <a:off x="7035800" y="2870200"/>
            <a:ext cx="4064000" cy="825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主动识别模糊点</a:t>
            </a:r>
            <a:endParaRPr lang="en-US" sz="1100"/>
          </a:p>
          <a:p>
            <a:pPr indent="0" algn="l">
              <a:lnSpc>
                <a:spcPct val="108000"/>
              </a:lnSpc>
              <a:spcBef>
                <a:spcPts val="400"/>
              </a:spcBef>
            </a:pPr>
            <a:r>
              <a:rPr lang="en-US" sz="1200" b="0" i="0" u="none" strike="noStrike">
                <a:solidFill>
                  <a:srgbClr val="606266"/>
                </a:solidFill>
                <a:latin typeface="Noto Sans SC" panose="020B0200000000000000" charset="-122"/>
                <a:ea typeface="Noto Sans SC" panose="020B0200000000000000" charset="-122"/>
                <a:cs typeface="Noto Sans SC" panose="020B0200000000000000" charset="-122"/>
                <a:sym typeface="Noto Sans SC" panose="020B0200000000000000" charset="-122"/>
              </a:rPr>
              <a:t>像需求分析师一样，自动检测自然语言需求中的缺失与歧义信息。</a:t>
            </a:r>
            <a:endParaRPr lang="en-US" sz="1200" b="0" i="0" u="none" strike="noStrike">
              <a:solidFill>
                <a:srgbClr val="6062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2" name="Picture 12"/>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27800" y="4064000"/>
            <a:ext cx="355600" cy="355600"/>
          </a:xfrm>
          <a:prstGeom prst="rect">
            <a:avLst/>
          </a:prstGeom>
        </p:spPr>
      </p:pic>
      <p:sp>
        <p:nvSpPr>
          <p:cNvPr id="13" name="AutoShape 13"/>
          <p:cNvSpPr/>
          <p:nvPr/>
        </p:nvSpPr>
        <p:spPr>
          <a:xfrm>
            <a:off x="7035800" y="4013200"/>
            <a:ext cx="4064000" cy="825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引导用户澄清需求</a:t>
            </a:r>
            <a:endParaRPr lang="en-US" sz="1100"/>
          </a:p>
          <a:p>
            <a:pPr indent="0" algn="l">
              <a:lnSpc>
                <a:spcPct val="108000"/>
              </a:lnSpc>
              <a:spcBef>
                <a:spcPts val="400"/>
              </a:spcBef>
            </a:pPr>
            <a:r>
              <a:rPr lang="en-US" sz="1200" b="0" i="0" u="none" strike="noStrike">
                <a:solidFill>
                  <a:srgbClr val="606266"/>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通过多轮、结构化的人机对话，引导用户补充关键信息，消除模糊性。</a:t>
            </a:r>
            <a:endParaRPr lang="en-US" sz="1200" b="0" i="0" u="none" strike="noStrike">
              <a:solidFill>
                <a:srgbClr val="6062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4" name="Picture 1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527800" y="5143500"/>
            <a:ext cx="355600" cy="355600"/>
          </a:xfrm>
          <a:prstGeom prst="rect">
            <a:avLst/>
          </a:prstGeom>
        </p:spPr>
      </p:pic>
      <p:sp>
        <p:nvSpPr>
          <p:cNvPr id="15" name="AutoShape 15"/>
          <p:cNvSpPr/>
          <p:nvPr/>
        </p:nvSpPr>
        <p:spPr>
          <a:xfrm>
            <a:off x="7035800" y="5092700"/>
            <a:ext cx="4064000" cy="825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生成高质量代码</a:t>
            </a:r>
            <a:endParaRPr lang="en-US" sz="1100"/>
          </a:p>
          <a:p>
            <a:pPr indent="0" algn="l">
              <a:lnSpc>
                <a:spcPct val="108000"/>
              </a:lnSpc>
              <a:spcBef>
                <a:spcPts val="400"/>
              </a:spcBef>
            </a:pPr>
            <a:r>
              <a:rPr lang="en-US" sz="1200" b="0" i="0" u="none" strike="noStrike">
                <a:solidFill>
                  <a:srgbClr val="606266"/>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基于最终明确的需求规约，自动生成准确、健壮且易维护的可执行代码。</a:t>
            </a:r>
            <a:endParaRPr lang="en-US" sz="1200" b="0" i="0" u="none" strike="noStrike">
              <a:solidFill>
                <a:srgbClr val="6062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02 核心研究问题</a:t>
            </a:r>
            <a:endParaRPr lang="en-US" sz="1100"/>
          </a:p>
        </p:txBody>
      </p:sp>
      <p:sp>
        <p:nvSpPr>
          <p:cNvPr id="4" name="AutoShape 4"/>
          <p:cNvSpPr/>
          <p:nvPr/>
        </p:nvSpPr>
        <p:spPr>
          <a:xfrm>
            <a:off x="762000" y="1778000"/>
            <a:ext cx="3302000" cy="4318000"/>
          </a:xfrm>
          <a:prstGeom prst="roundRect">
            <a:avLst>
              <a:gd name="adj" fmla="val 4615"/>
            </a:avLst>
          </a:prstGeom>
          <a:solidFill>
            <a:srgbClr val="FFFFFF">
              <a:alpha val="100000"/>
            </a:srgbClr>
          </a:solidFill>
          <a:ln w="12700" cap="flat" cmpd="sng">
            <a:solidFill>
              <a:srgbClr val="E6E6E6">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5" name="AutoShape 5"/>
          <p:cNvSpPr/>
          <p:nvPr/>
        </p:nvSpPr>
        <p:spPr>
          <a:xfrm>
            <a:off x="762000" y="1778000"/>
            <a:ext cx="3302000" cy="76200"/>
          </a:xfrm>
          <a:prstGeom prst="roundRect">
            <a:avLst>
              <a:gd name="adj" fmla="val 0"/>
            </a:avLst>
          </a:prstGeom>
          <a:solidFill>
            <a:srgbClr val="00C2B4">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159000"/>
            <a:ext cx="406400" cy="406400"/>
          </a:xfrm>
          <a:prstGeom prst="rect">
            <a:avLst/>
          </a:prstGeom>
        </p:spPr>
      </p:pic>
      <p:sp>
        <p:nvSpPr>
          <p:cNvPr id="7" name="AutoShape 7"/>
          <p:cNvSpPr/>
          <p:nvPr/>
        </p:nvSpPr>
        <p:spPr>
          <a:xfrm>
            <a:off x="1549400" y="2108200"/>
            <a:ext cx="228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9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如何识别模糊性</a:t>
            </a:r>
            <a:endParaRPr lang="en-US" sz="1100"/>
          </a:p>
          <a:p>
            <a:pPr indent="0" algn="l">
              <a:lnSpc>
                <a:spcPct val="125000"/>
              </a:lnSpc>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What to ask?</a:t>
            </a:r>
            <a:endPar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1016000" y="3048000"/>
            <a:ext cx="2794000" cy="2794000"/>
          </a:xfrm>
          <a:prstGeom prst="rect">
            <a:avLst/>
          </a:prstGeom>
          <a:noFill/>
          <a:ln w="12700" cap="flat" cmpd="sng">
            <a:noFill/>
            <a:prstDash val="solid"/>
            <a:round/>
          </a:ln>
        </p:spPr>
        <p:txBody>
          <a:bodyPr vert="horz" wrap="square" lIns="0" tIns="0" rIns="0" bIns="0" rtlCol="0" anchor="ctr" anchorCtr="0"/>
          <a:lstStyle/>
          <a:p>
            <a:pPr indent="0" algn="l">
              <a:lnSpc>
                <a:spcPct val="108000"/>
              </a:lnSpc>
              <a:spcBef>
                <a:spcPts val="1000"/>
              </a:spcBef>
              <a:defRPr/>
            </a:pPr>
            <a:r>
              <a:rPr lang="en-US" sz="1300" b="1" i="0" u="none" strike="noStrike">
                <a:solidFill>
                  <a:srgbClr val="00C2B4"/>
                </a:solidFill>
                <a:latin typeface="Noto Sans SC" panose="020B0200000000000000" charset="-122"/>
                <a:ea typeface="Noto Sans SC" panose="020B0200000000000000" charset="-122"/>
                <a:cs typeface="Noto Sans SC" panose="020B0200000000000000" charset="-122"/>
                <a:sym typeface="Noto Sans SC" panose="020B0200000000000000" charset="-122"/>
              </a:rPr>
              <a:t>▍问题描述</a:t>
            </a:r>
            <a:endParaRPr lang="en-US" sz="1100"/>
          </a:p>
          <a:p>
            <a:pPr indent="0" algn="l">
              <a:lnSpc>
                <a:spcPct val="117000"/>
              </a:lnSpc>
            </a:pP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如何让大模型自动、全面地检测出自然语言需求中的缺失信息、歧义表述和潜在假设？</a:t>
            </a:r>
            <a:endPar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8000"/>
              </a:lnSpc>
              <a:spcBef>
                <a:spcPts val="1500"/>
              </a:spcBef>
            </a:pPr>
            <a:r>
              <a:rPr lang="en-US" sz="1300" b="1" i="0" u="none" strike="noStrike">
                <a:solidFill>
                  <a:srgbClr val="EA580C"/>
                </a:solidFill>
                <a:latin typeface="Noto Sans SC" panose="020B0200000000000000" charset="-122"/>
                <a:ea typeface="Noto Sans SC" panose="020B0200000000000000" charset="-122"/>
                <a:cs typeface="Noto Sans SC" panose="020B0200000000000000" charset="-122"/>
                <a:sym typeface="Noto Sans SC" panose="020B0200000000000000" charset="-122"/>
              </a:rPr>
              <a:t>▍面临挑战</a:t>
            </a:r>
            <a:endParaRPr lang="en-US" sz="1300" b="1" i="0" u="none" strike="noStrike">
              <a:solidFill>
                <a:srgbClr val="EA580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pP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模糊性的类型多样（如输入输出未定义、边界条件缺失、算法选择不明等），需要一个系统性的检测框架。</a:t>
            </a:r>
            <a:endPar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4445000" y="1778000"/>
            <a:ext cx="3302000" cy="4318000"/>
          </a:xfrm>
          <a:prstGeom prst="roundRect">
            <a:avLst>
              <a:gd name="adj" fmla="val 4615"/>
            </a:avLst>
          </a:prstGeom>
          <a:solidFill>
            <a:srgbClr val="FFFFFF">
              <a:alpha val="100000"/>
            </a:srgbClr>
          </a:solidFill>
          <a:ln w="12700" cap="flat" cmpd="sng">
            <a:solidFill>
              <a:srgbClr val="E6E6E6">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0" name="AutoShape 10"/>
          <p:cNvSpPr/>
          <p:nvPr/>
        </p:nvSpPr>
        <p:spPr>
          <a:xfrm>
            <a:off x="4445000" y="1778000"/>
            <a:ext cx="3302000" cy="76200"/>
          </a:xfrm>
          <a:prstGeom prst="roundRect">
            <a:avLst>
              <a:gd name="adj" fmla="val 0"/>
            </a:avLst>
          </a:prstGeom>
          <a:solidFill>
            <a:srgbClr val="00C2B4">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99000" y="2159000"/>
            <a:ext cx="406400" cy="406400"/>
          </a:xfrm>
          <a:prstGeom prst="rect">
            <a:avLst/>
          </a:prstGeom>
        </p:spPr>
      </p:pic>
      <p:sp>
        <p:nvSpPr>
          <p:cNvPr id="12" name="AutoShape 12"/>
          <p:cNvSpPr/>
          <p:nvPr/>
        </p:nvSpPr>
        <p:spPr>
          <a:xfrm>
            <a:off x="5232400" y="2108200"/>
            <a:ext cx="228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9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如何进行有效澄清</a:t>
            </a:r>
            <a:endParaRPr lang="en-US" sz="1100"/>
          </a:p>
          <a:p>
            <a:pPr indent="0" algn="l">
              <a:lnSpc>
                <a:spcPct val="125000"/>
              </a:lnSpc>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How to ask?</a:t>
            </a:r>
            <a:endPar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4699000" y="3048000"/>
            <a:ext cx="2794000" cy="2794000"/>
          </a:xfrm>
          <a:prstGeom prst="rect">
            <a:avLst/>
          </a:prstGeom>
          <a:noFill/>
          <a:ln w="12700" cap="flat" cmpd="sng">
            <a:noFill/>
            <a:prstDash val="solid"/>
            <a:round/>
          </a:ln>
        </p:spPr>
        <p:txBody>
          <a:bodyPr vert="horz" wrap="square" lIns="0" tIns="0" rIns="0" bIns="0" rtlCol="0" anchor="ctr" anchorCtr="0"/>
          <a:lstStyle/>
          <a:p>
            <a:pPr indent="0" algn="l">
              <a:lnSpc>
                <a:spcPct val="108000"/>
              </a:lnSpc>
              <a:spcBef>
                <a:spcPts val="1000"/>
              </a:spcBef>
              <a:defRPr/>
            </a:pPr>
            <a:r>
              <a:rPr lang="en-US" sz="1300" b="1" i="0" u="none" strike="noStrike">
                <a:solidFill>
                  <a:srgbClr val="00C2B4"/>
                </a:solidFill>
                <a:latin typeface="Noto Sans SC" panose="020B0200000000000000" charset="-122"/>
                <a:ea typeface="Noto Sans SC" panose="020B0200000000000000" charset="-122"/>
                <a:cs typeface="Noto Sans SC" panose="020B0200000000000000" charset="-122"/>
                <a:sym typeface="Noto Sans SC" panose="020B0200000000000000" charset="-122"/>
              </a:rPr>
              <a:t>▍问题描述</a:t>
            </a:r>
            <a:endParaRPr lang="en-US" sz="1100"/>
          </a:p>
          <a:p>
            <a:pPr indent="0" algn="l">
              <a:lnSpc>
                <a:spcPct val="117000"/>
              </a:lnSpc>
            </a:pP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如何生成引导性强、结构化的澄清问题，并有效管理多轮对话的状态，确保对话的连贯性和效率？</a:t>
            </a:r>
            <a:endPar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8000"/>
              </a:lnSpc>
              <a:spcBef>
                <a:spcPts val="1500"/>
              </a:spcBef>
            </a:pPr>
            <a:r>
              <a:rPr lang="en-US" sz="1300" b="1" i="0" u="none" strike="noStrike">
                <a:solidFill>
                  <a:srgbClr val="EA580C"/>
                </a:solidFill>
                <a:latin typeface="Noto Sans SC" panose="020B0200000000000000" charset="-122"/>
                <a:ea typeface="Noto Sans SC" panose="020B0200000000000000" charset="-122"/>
                <a:cs typeface="Noto Sans SC" panose="020B0200000000000000" charset="-122"/>
                <a:sym typeface="Noto Sans SC" panose="020B0200000000000000" charset="-122"/>
              </a:rPr>
              <a:t>▍面临挑战</a:t>
            </a:r>
            <a:endParaRPr lang="en-US" sz="1300" b="1" i="0" u="none" strike="noStrike">
              <a:solidFill>
                <a:srgbClr val="EA580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pP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提问的方式和时机至关重要，需要避免无效追问，并能灵活处理用户的各类反馈和回答。</a:t>
            </a:r>
            <a:endPar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nvSpPr>
        <p:spPr>
          <a:xfrm>
            <a:off x="8128000" y="1778000"/>
            <a:ext cx="3302000" cy="4318000"/>
          </a:xfrm>
          <a:prstGeom prst="roundRect">
            <a:avLst>
              <a:gd name="adj" fmla="val 4615"/>
            </a:avLst>
          </a:prstGeom>
          <a:solidFill>
            <a:srgbClr val="FFFFFF">
              <a:alpha val="100000"/>
            </a:srgbClr>
          </a:solidFill>
          <a:ln w="12700" cap="flat" cmpd="sng">
            <a:solidFill>
              <a:srgbClr val="E6E6E6">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5" name="AutoShape 15"/>
          <p:cNvSpPr/>
          <p:nvPr/>
        </p:nvSpPr>
        <p:spPr>
          <a:xfrm>
            <a:off x="8128000" y="1778000"/>
            <a:ext cx="3302000" cy="76200"/>
          </a:xfrm>
          <a:prstGeom prst="roundRect">
            <a:avLst>
              <a:gd name="adj" fmla="val 0"/>
            </a:avLst>
          </a:prstGeom>
          <a:solidFill>
            <a:srgbClr val="00C2B4">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382000" y="2159000"/>
            <a:ext cx="406400" cy="406400"/>
          </a:xfrm>
          <a:prstGeom prst="rect">
            <a:avLst/>
          </a:prstGeom>
        </p:spPr>
      </p:pic>
      <p:sp>
        <p:nvSpPr>
          <p:cNvPr id="17" name="AutoShape 17"/>
          <p:cNvSpPr/>
          <p:nvPr/>
        </p:nvSpPr>
        <p:spPr>
          <a:xfrm>
            <a:off x="8915400" y="2108200"/>
            <a:ext cx="228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9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如何生成高质量代码</a:t>
            </a:r>
            <a:endParaRPr lang="en-US" sz="1100"/>
          </a:p>
          <a:p>
            <a:pPr indent="0" algn="l">
              <a:lnSpc>
                <a:spcPct val="125000"/>
              </a:lnSpc>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How to generate?</a:t>
            </a:r>
            <a:endPar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8" name="AutoShape 18"/>
          <p:cNvSpPr/>
          <p:nvPr/>
        </p:nvSpPr>
        <p:spPr>
          <a:xfrm>
            <a:off x="8382000" y="3048000"/>
            <a:ext cx="2794000" cy="2794000"/>
          </a:xfrm>
          <a:prstGeom prst="rect">
            <a:avLst/>
          </a:prstGeom>
          <a:noFill/>
          <a:ln w="12700" cap="flat" cmpd="sng">
            <a:noFill/>
            <a:prstDash val="solid"/>
            <a:round/>
          </a:ln>
        </p:spPr>
        <p:txBody>
          <a:bodyPr vert="horz" wrap="square" lIns="0" tIns="0" rIns="0" bIns="0" rtlCol="0" anchor="ctr" anchorCtr="0"/>
          <a:lstStyle/>
          <a:p>
            <a:pPr indent="0" algn="l">
              <a:lnSpc>
                <a:spcPct val="108000"/>
              </a:lnSpc>
              <a:spcBef>
                <a:spcPts val="1000"/>
              </a:spcBef>
              <a:defRPr/>
            </a:pPr>
            <a:r>
              <a:rPr lang="en-US" sz="1300" b="1" i="0" u="none" strike="noStrike">
                <a:solidFill>
                  <a:srgbClr val="00C2B4"/>
                </a:solidFill>
                <a:latin typeface="Noto Sans SC" panose="020B0200000000000000" charset="-122"/>
                <a:ea typeface="Noto Sans SC" panose="020B0200000000000000" charset="-122"/>
                <a:cs typeface="Noto Sans SC" panose="020B0200000000000000" charset="-122"/>
                <a:sym typeface="Noto Sans SC" panose="020B0200000000000000" charset="-122"/>
              </a:rPr>
              <a:t>▍问题描述</a:t>
            </a:r>
            <a:endParaRPr lang="en-US" sz="1100"/>
          </a:p>
          <a:p>
            <a:pPr indent="0" algn="l">
              <a:lnSpc>
                <a:spcPct val="117000"/>
              </a:lnSpc>
            </a:pP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如何将澄清后得到的结构化需求规约，准确无误地转化为高质量、符合工程规范的代码？</a:t>
            </a:r>
            <a:endPar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8000"/>
              </a:lnSpc>
              <a:spcBef>
                <a:spcPts val="1500"/>
              </a:spcBef>
            </a:pPr>
            <a:r>
              <a:rPr lang="en-US" sz="1300" b="1" i="0" u="none" strike="noStrike">
                <a:solidFill>
                  <a:srgbClr val="EA580C"/>
                </a:solidFill>
                <a:latin typeface="Noto Sans SC" panose="020B0200000000000000" charset="-122"/>
                <a:ea typeface="Noto Sans SC" panose="020B0200000000000000" charset="-122"/>
                <a:cs typeface="Noto Sans SC" panose="020B0200000000000000" charset="-122"/>
                <a:sym typeface="Noto Sans SC" panose="020B0200000000000000" charset="-122"/>
              </a:rPr>
              <a:t>▍面临挑战</a:t>
            </a:r>
            <a:endParaRPr lang="en-US" sz="1300" b="1" i="0" u="none" strike="noStrike">
              <a:solidFill>
                <a:srgbClr val="EA580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pP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需要建立一个可靠的映射机制，将语义化的自然语言规约准确对应到编程语言的语法、语义与结构上。</a:t>
            </a:r>
            <a:endPar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02 研究方法与技术路线</a:t>
            </a:r>
            <a:endParaRPr lang="en-US" sz="1100"/>
          </a:p>
        </p:txBody>
      </p:sp>
      <p:sp>
        <p:nvSpPr>
          <p:cNvPr id="4" name="AutoShape 4"/>
          <p:cNvSpPr/>
          <p:nvPr/>
        </p:nvSpPr>
        <p:spPr>
          <a:xfrm>
            <a:off x="762000" y="1397000"/>
            <a:ext cx="10668000" cy="812800"/>
          </a:xfrm>
          <a:prstGeom prst="roundRect">
            <a:avLst>
              <a:gd name="adj" fmla="val 12500"/>
            </a:avLst>
          </a:prstGeom>
          <a:solidFill>
            <a:srgbClr val="00C2B4">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5" name="AutoShape 5"/>
          <p:cNvSpPr/>
          <p:nvPr/>
        </p:nvSpPr>
        <p:spPr>
          <a:xfrm>
            <a:off x="1016000" y="1549400"/>
            <a:ext cx="1016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核心方法论：人在回路 (Human-in-the-Loop) + 多智能体协作 (Multi-Agent Collaboration)</a:t>
            </a:r>
            <a:endParaRPr lang="en-US" sz="1100"/>
          </a:p>
        </p:txBody>
      </p:sp>
      <p:sp>
        <p:nvSpPr>
          <p:cNvPr id="6" name="AutoShape 6"/>
          <p:cNvSpPr/>
          <p:nvPr/>
        </p:nvSpPr>
        <p:spPr>
          <a:xfrm>
            <a:off x="762000" y="2413000"/>
            <a:ext cx="5207000" cy="1651000"/>
          </a:xfrm>
          <a:prstGeom prst="roundRect">
            <a:avLst>
              <a:gd name="adj" fmla="val 923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730500"/>
            <a:ext cx="508000" cy="508000"/>
          </a:xfrm>
          <a:prstGeom prst="rect">
            <a:avLst/>
          </a:prstGeom>
        </p:spPr>
      </p:pic>
      <p:sp>
        <p:nvSpPr>
          <p:cNvPr id="8" name="AutoShape 8"/>
          <p:cNvSpPr/>
          <p:nvPr/>
        </p:nvSpPr>
        <p:spPr>
          <a:xfrm>
            <a:off x="1778000" y="2603500"/>
            <a:ext cx="3937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01 / 检测 (Detect) · 需求分析智能体</a:t>
            </a:r>
            <a:endParaRPr lang="en-US" sz="1100"/>
          </a:p>
          <a:p>
            <a:pPr indent="0" algn="l">
              <a:lnSpc>
                <a:spcPct val="108000"/>
              </a:lnSpc>
              <a:spcBef>
                <a:spcPts val="800"/>
              </a:spcBef>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设计“开放式反思+结构化核对”两阶段提示策略，精准识别模糊需求中的歧义点与缺失信息。</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6223000" y="2413000"/>
            <a:ext cx="5207000" cy="1651000"/>
          </a:xfrm>
          <a:prstGeom prst="roundRect">
            <a:avLst>
              <a:gd name="adj" fmla="val 923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77000" y="2730500"/>
            <a:ext cx="508000" cy="508000"/>
          </a:xfrm>
          <a:prstGeom prst="rect">
            <a:avLst/>
          </a:prstGeom>
        </p:spPr>
      </p:pic>
      <p:sp>
        <p:nvSpPr>
          <p:cNvPr id="11" name="AutoShape 11"/>
          <p:cNvSpPr/>
          <p:nvPr/>
        </p:nvSpPr>
        <p:spPr>
          <a:xfrm>
            <a:off x="7239000" y="2603500"/>
            <a:ext cx="3937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02 / 提问与管理 (Ask &amp; Manage)</a:t>
            </a:r>
            <a:endParaRPr lang="en-US" sz="1100"/>
          </a:p>
          <a:p>
            <a:pPr indent="0" algn="l">
              <a:lnSpc>
                <a:spcPct val="108000"/>
              </a:lnSpc>
              <a:spcBef>
                <a:spcPts val="800"/>
              </a:spcBef>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a:t>
            </a:r>
            <a:r>
              <a:rPr lang="en-US" sz="13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有限状态机(FSM)</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构建中央协调器，配合问题生成智能体实现主动澄清与多轮对话的有序管理。</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nvSpPr>
        <p:spPr>
          <a:xfrm>
            <a:off x="762000" y="4254500"/>
            <a:ext cx="5207000" cy="1651000"/>
          </a:xfrm>
          <a:prstGeom prst="roundRect">
            <a:avLst>
              <a:gd name="adj" fmla="val 923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4572000"/>
            <a:ext cx="508000" cy="508000"/>
          </a:xfrm>
          <a:prstGeom prst="rect">
            <a:avLst/>
          </a:prstGeom>
        </p:spPr>
      </p:pic>
      <p:sp>
        <p:nvSpPr>
          <p:cNvPr id="14" name="AutoShape 14"/>
          <p:cNvSpPr/>
          <p:nvPr/>
        </p:nvSpPr>
        <p:spPr>
          <a:xfrm>
            <a:off x="1778000" y="4445000"/>
            <a:ext cx="3937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03 / 整合 (Integrate) · 需求规约化</a:t>
            </a:r>
            <a:endParaRPr lang="en-US" sz="1100"/>
          </a:p>
          <a:p>
            <a:pPr indent="0" algn="l">
              <a:lnSpc>
                <a:spcPct val="108000"/>
              </a:lnSpc>
              <a:spcBef>
                <a:spcPts val="800"/>
              </a:spcBef>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动态聚合多轮交互中的用户反馈，将模糊、自然语言描述转化为结构化、无歧义的</a:t>
            </a:r>
            <a:r>
              <a:rPr lang="en-US" sz="13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需求规约(Specification)</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nvSpPr>
        <p:spPr>
          <a:xfrm>
            <a:off x="6223000" y="4254500"/>
            <a:ext cx="5207000" cy="1651000"/>
          </a:xfrm>
          <a:prstGeom prst="roundRect">
            <a:avLst>
              <a:gd name="adj" fmla="val 923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477000" y="4572000"/>
            <a:ext cx="508000" cy="508000"/>
          </a:xfrm>
          <a:prstGeom prst="rect">
            <a:avLst/>
          </a:prstGeom>
        </p:spPr>
      </p:pic>
      <p:sp>
        <p:nvSpPr>
          <p:cNvPr id="17" name="AutoShape 17"/>
          <p:cNvSpPr/>
          <p:nvPr/>
        </p:nvSpPr>
        <p:spPr>
          <a:xfrm>
            <a:off x="7239000" y="4445000"/>
            <a:ext cx="3937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04 / 生成 (Generate) · 代码生成智能体</a:t>
            </a:r>
            <a:endParaRPr lang="en-US" sz="1100"/>
          </a:p>
          <a:p>
            <a:pPr indent="0" algn="l">
              <a:lnSpc>
                <a:spcPct val="108000"/>
              </a:lnSpc>
              <a:spcBef>
                <a:spcPts val="800"/>
              </a:spcBef>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基于标准化的需求规约，生成可执行的高质量代码，并附带详细的代码逻辑解释及潜在安全建议。</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03 系统总体架构</a:t>
            </a:r>
            <a:endParaRPr lang="en-US" sz="1100"/>
          </a:p>
        </p:txBody>
      </p:sp>
      <p:sp>
        <p:nvSpPr>
          <p:cNvPr id="4" name="AutoShape 4"/>
          <p:cNvSpPr/>
          <p:nvPr/>
        </p:nvSpPr>
        <p:spPr>
          <a:xfrm>
            <a:off x="762000" y="1651000"/>
            <a:ext cx="5207000" cy="1206500"/>
          </a:xfrm>
          <a:prstGeom prst="roundRect">
            <a:avLst>
              <a:gd name="adj" fmla="val 8421"/>
            </a:avLst>
          </a:prstGeom>
          <a:solidFill>
            <a:srgbClr val="FFFFFF">
              <a:alpha val="9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5" name="AutoShape 5"/>
          <p:cNvSpPr/>
          <p:nvPr/>
        </p:nvSpPr>
        <p:spPr>
          <a:xfrm>
            <a:off x="762000" y="1803400"/>
            <a:ext cx="76200" cy="901700"/>
          </a:xfrm>
          <a:prstGeom prst="roundRect">
            <a:avLst>
              <a:gd name="adj" fmla="val 0"/>
            </a:avLst>
          </a:prstGeom>
          <a:solidFill>
            <a:srgbClr val="00C2B4">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778000"/>
            <a:ext cx="4699000" cy="1016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7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1. 表现层 (Presentation Layer)</a:t>
            </a:r>
            <a:endParaRPr lang="en-US" sz="1100"/>
          </a:p>
          <a:p>
            <a:pPr indent="0" algn="l">
              <a:lnSpc>
                <a:spcPct val="108000"/>
              </a:lnSpc>
            </a:pPr>
            <a:r>
              <a:rPr lang="en-US" sz="1300" b="1" i="0" u="none" strike="noStrike">
                <a:solidFill>
                  <a:srgbClr val="00C2B4"/>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 React |</a:t>
            </a: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负责用户交互界面，涵盖需求输入、对话展示、代码预览及历史记录等核心功能。</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762000" y="3048000"/>
            <a:ext cx="5207000" cy="1206500"/>
          </a:xfrm>
          <a:prstGeom prst="roundRect">
            <a:avLst>
              <a:gd name="adj" fmla="val 8421"/>
            </a:avLst>
          </a:prstGeom>
          <a:solidFill>
            <a:srgbClr val="FFFFFF">
              <a:alpha val="9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8" name="AutoShape 8"/>
          <p:cNvSpPr/>
          <p:nvPr/>
        </p:nvSpPr>
        <p:spPr>
          <a:xfrm>
            <a:off x="762000" y="3200400"/>
            <a:ext cx="76200" cy="901700"/>
          </a:xfrm>
          <a:prstGeom prst="roundRect">
            <a:avLst>
              <a:gd name="adj" fmla="val 0"/>
            </a:avLst>
          </a:prstGeom>
          <a:solidFill>
            <a:srgbClr val="00C2B4">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016000" y="3175000"/>
            <a:ext cx="4699000" cy="1016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7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2. 业务逻辑层 (Business Logic Layer)</a:t>
            </a:r>
            <a:endParaRPr lang="en-US" sz="1100"/>
          </a:p>
          <a:p>
            <a:pPr indent="0" algn="l">
              <a:lnSpc>
                <a:spcPct val="108000"/>
              </a:lnSpc>
            </a:pPr>
            <a:r>
              <a:rPr lang="en-US" sz="1300" b="1" i="0" u="none" strike="noStrike">
                <a:solidFill>
                  <a:srgbClr val="00C2B4"/>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 FastAPI + 智能体协调器 |</a:t>
            </a: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系统“大脑”，统筹调度五大智能体协同作业，精准处理业务流转与逻辑运算。</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762000" y="4318000"/>
            <a:ext cx="5207000" cy="1206500"/>
          </a:xfrm>
          <a:prstGeom prst="roundRect">
            <a:avLst>
              <a:gd name="adj" fmla="val 8421"/>
            </a:avLst>
          </a:prstGeom>
          <a:solidFill>
            <a:srgbClr val="FFFFFF">
              <a:alpha val="9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1" name="AutoShape 11"/>
          <p:cNvSpPr/>
          <p:nvPr/>
        </p:nvSpPr>
        <p:spPr>
          <a:xfrm>
            <a:off x="762000" y="4470400"/>
            <a:ext cx="76200" cy="901700"/>
          </a:xfrm>
          <a:prstGeom prst="roundRect">
            <a:avLst>
              <a:gd name="adj" fmla="val 0"/>
            </a:avLst>
          </a:prstGeom>
          <a:solidFill>
            <a:srgbClr val="00C2B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1016000" y="4445000"/>
            <a:ext cx="4699000" cy="1016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7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3. AI 服务层 (AI Service Layer)</a:t>
            </a:r>
            <a:endParaRPr lang="en-US" sz="1100"/>
          </a:p>
          <a:p>
            <a:pPr indent="0" algn="l">
              <a:lnSpc>
                <a:spcPct val="108000"/>
              </a:lnSpc>
            </a:pPr>
            <a:r>
              <a:rPr lang="en-US" sz="1300" b="1" i="0" u="none" strike="noStrike">
                <a:solidFill>
                  <a:srgbClr val="00C2B4"/>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 LLM API (DeepSeek) |</a:t>
            </a: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封装底层大模型调用接口，向上层模块提供统一、标准化的AI推理与生成能力。</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762000" y="5461000"/>
            <a:ext cx="5207000" cy="1206500"/>
          </a:xfrm>
          <a:prstGeom prst="roundRect">
            <a:avLst>
              <a:gd name="adj" fmla="val 8421"/>
            </a:avLst>
          </a:prstGeom>
          <a:solidFill>
            <a:srgbClr val="FFFFFF">
              <a:alpha val="9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4" name="AutoShape 14"/>
          <p:cNvSpPr/>
          <p:nvPr/>
        </p:nvSpPr>
        <p:spPr>
          <a:xfrm>
            <a:off x="762000" y="5613400"/>
            <a:ext cx="76200" cy="901700"/>
          </a:xfrm>
          <a:prstGeom prst="roundRect">
            <a:avLst>
              <a:gd name="adj" fmla="val 0"/>
            </a:avLst>
          </a:prstGeom>
          <a:solidFill>
            <a:srgbClr val="00C2B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1016000" y="5588000"/>
            <a:ext cx="4699000" cy="1016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7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4. 数据持久层 (Data Persistence Layer)</a:t>
            </a:r>
            <a:endParaRPr lang="en-US" sz="1100"/>
          </a:p>
          <a:p>
            <a:pPr indent="0" algn="l">
              <a:lnSpc>
                <a:spcPct val="108000"/>
              </a:lnSpc>
            </a:pPr>
            <a:r>
              <a:rPr lang="en-US" sz="1300" b="1" i="0" u="none" strike="noStrike">
                <a:solidFill>
                  <a:srgbClr val="00C2B4"/>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 MySQL |</a:t>
            </a: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提供稳定的数据存储服务，涵盖用户身份信息、全量会话日志、需求规约及代码案例库。</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AutoShape 16"/>
          <p:cNvSpPr/>
          <p:nvPr/>
        </p:nvSpPr>
        <p:spPr>
          <a:xfrm>
            <a:off x="6350000" y="1651000"/>
            <a:ext cx="2413000" cy="1206500"/>
          </a:xfrm>
          <a:prstGeom prst="roundRect">
            <a:avLst>
              <a:gd name="adj" fmla="val 8421"/>
            </a:avLst>
          </a:prstGeom>
          <a:solidFill>
            <a:srgbClr val="FFFFFF">
              <a:alpha val="100000"/>
            </a:srgbClr>
          </a:solidFill>
          <a:ln w="25400" cap="flat" cmpd="sng">
            <a:solidFill>
              <a:srgbClr val="00C2B4">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7" name="AutoShape 17"/>
          <p:cNvSpPr/>
          <p:nvPr/>
        </p:nvSpPr>
        <p:spPr>
          <a:xfrm>
            <a:off x="6477000" y="1841500"/>
            <a:ext cx="2159000" cy="825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表现层</a:t>
            </a:r>
            <a:endParaRPr lang="en-US" sz="1100"/>
          </a:p>
          <a:p>
            <a:pPr indent="0" algn="ctr">
              <a:lnSpc>
                <a:spcPct val="125000"/>
              </a:lnSpc>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Presentation Layer</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8" name="Picture 18"/>
          <p:cNvPicPr>
            <a:picLocks noChangeAspect="1"/>
          </p:cNvPicPr>
          <p:nvPr/>
        </p:nvPicPr>
        <p:blipFill>
          <a:blip r:embed="rId2"/>
          <a:srcRect l="24000" r="24000"/>
          <a:stretch>
            <a:fillRect/>
          </a:stretch>
        </p:blipFill>
        <p:spPr>
          <a:xfrm>
            <a:off x="9017000" y="1803400"/>
            <a:ext cx="1397000" cy="901700"/>
          </a:xfrm>
          <a:prstGeom prst="rect">
            <a:avLst/>
          </a:prstGeom>
          <a:noFill/>
          <a:ln w="25400" cap="flat" cmpd="sng">
            <a:noFill/>
            <a:prstDash val="solid"/>
            <a:round/>
          </a:ln>
        </p:spPr>
      </p:pic>
      <p:sp>
        <p:nvSpPr>
          <p:cNvPr id="19" name="AutoShape 19"/>
          <p:cNvSpPr/>
          <p:nvPr/>
        </p:nvSpPr>
        <p:spPr>
          <a:xfrm>
            <a:off x="6350000" y="3048000"/>
            <a:ext cx="2413000" cy="1206500"/>
          </a:xfrm>
          <a:prstGeom prst="roundRect">
            <a:avLst>
              <a:gd name="adj" fmla="val 8421"/>
            </a:avLst>
          </a:prstGeom>
          <a:solidFill>
            <a:srgbClr val="FFFFFF">
              <a:alpha val="100000"/>
            </a:srgbClr>
          </a:solidFill>
          <a:ln w="25400" cap="flat" cmpd="sng">
            <a:solidFill>
              <a:srgbClr val="00C2B4">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20" name="AutoShape 20"/>
          <p:cNvSpPr/>
          <p:nvPr/>
        </p:nvSpPr>
        <p:spPr>
          <a:xfrm>
            <a:off x="6477000" y="3238500"/>
            <a:ext cx="2159000" cy="825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业务逻辑层</a:t>
            </a:r>
            <a:endParaRPr lang="en-US" sz="1100"/>
          </a:p>
          <a:p>
            <a:pPr indent="0" algn="ctr">
              <a:lnSpc>
                <a:spcPct val="125000"/>
              </a:lnSpc>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Business Logic Layer</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1" name="Picture 21"/>
          <p:cNvPicPr>
            <a:picLocks noChangeAspect="1"/>
          </p:cNvPicPr>
          <p:nvPr/>
        </p:nvPicPr>
        <p:blipFill>
          <a:blip r:embed="rId3"/>
          <a:srcRect t="7002" b="7002"/>
          <a:stretch>
            <a:fillRect/>
          </a:stretch>
        </p:blipFill>
        <p:spPr>
          <a:xfrm>
            <a:off x="9017000" y="3200400"/>
            <a:ext cx="1397000" cy="901700"/>
          </a:xfrm>
          <a:prstGeom prst="rect">
            <a:avLst/>
          </a:prstGeom>
          <a:noFill/>
          <a:ln w="25400" cap="flat" cmpd="sng">
            <a:noFill/>
            <a:prstDash val="solid"/>
            <a:round/>
          </a:ln>
        </p:spPr>
      </p:pic>
      <p:sp>
        <p:nvSpPr>
          <p:cNvPr id="22" name="AutoShape 22"/>
          <p:cNvSpPr/>
          <p:nvPr/>
        </p:nvSpPr>
        <p:spPr>
          <a:xfrm>
            <a:off x="6350000" y="4318000"/>
            <a:ext cx="2413000" cy="1206500"/>
          </a:xfrm>
          <a:prstGeom prst="roundRect">
            <a:avLst>
              <a:gd name="adj" fmla="val 8421"/>
            </a:avLst>
          </a:prstGeom>
          <a:solidFill>
            <a:srgbClr val="FFFFFF">
              <a:alpha val="100000"/>
            </a:srgbClr>
          </a:solidFill>
          <a:ln w="25400" cap="flat" cmpd="sng">
            <a:solidFill>
              <a:srgbClr val="00C2B4">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23" name="AutoShape 23"/>
          <p:cNvSpPr/>
          <p:nvPr/>
        </p:nvSpPr>
        <p:spPr>
          <a:xfrm>
            <a:off x="6477000" y="4508500"/>
            <a:ext cx="2159000" cy="825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AI 服务层</a:t>
            </a:r>
            <a:endParaRPr lang="en-US" sz="1100"/>
          </a:p>
          <a:p>
            <a:pPr indent="0" algn="ctr">
              <a:lnSpc>
                <a:spcPct val="125000"/>
              </a:lnSpc>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AI Service Layer</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4" name="Picture 2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080500" y="4445000"/>
            <a:ext cx="1270000" cy="1016000"/>
          </a:xfrm>
          <a:prstGeom prst="rect">
            <a:avLst/>
          </a:prstGeom>
        </p:spPr>
      </p:pic>
      <p:sp>
        <p:nvSpPr>
          <p:cNvPr id="25" name="AutoShape 25"/>
          <p:cNvSpPr/>
          <p:nvPr/>
        </p:nvSpPr>
        <p:spPr>
          <a:xfrm>
            <a:off x="6350000" y="5461000"/>
            <a:ext cx="2413000" cy="1206500"/>
          </a:xfrm>
          <a:prstGeom prst="roundRect">
            <a:avLst>
              <a:gd name="adj" fmla="val 8421"/>
            </a:avLst>
          </a:prstGeom>
          <a:solidFill>
            <a:srgbClr val="FFFFFF">
              <a:alpha val="100000"/>
            </a:srgbClr>
          </a:solidFill>
          <a:ln w="25400" cap="flat" cmpd="sng">
            <a:solidFill>
              <a:srgbClr val="00C2B4">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26" name="AutoShape 26"/>
          <p:cNvSpPr/>
          <p:nvPr/>
        </p:nvSpPr>
        <p:spPr>
          <a:xfrm>
            <a:off x="6477000" y="5651500"/>
            <a:ext cx="2159000" cy="825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数据持久层</a:t>
            </a:r>
            <a:endParaRPr lang="en-US" sz="1100"/>
          </a:p>
          <a:p>
            <a:pPr indent="0" algn="ctr">
              <a:lnSpc>
                <a:spcPct val="125000"/>
              </a:lnSpc>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Data Persistence Layer</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7" name="Picture 27"/>
          <p:cNvPicPr>
            <a:picLocks noChangeAspect="1"/>
          </p:cNvPicPr>
          <p:nvPr/>
        </p:nvPicPr>
        <p:blipFill>
          <a:blip r:embed="rId6"/>
          <a:srcRect t="17727" b="17727"/>
          <a:stretch>
            <a:fillRect/>
          </a:stretch>
        </p:blipFill>
        <p:spPr>
          <a:xfrm>
            <a:off x="9017000" y="5613400"/>
            <a:ext cx="1397000" cy="901700"/>
          </a:xfrm>
          <a:prstGeom prst="rect">
            <a:avLst/>
          </a:prstGeom>
          <a:noFill/>
          <a:ln w="25400" cap="flat" cmpd="sng">
            <a:noFill/>
            <a:prstDash val="solid"/>
            <a:rou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03 核心工作流与多智能体协作</a:t>
            </a:r>
            <a:endParaRPr lang="en-US" sz="1100"/>
          </a:p>
        </p:txBody>
      </p:sp>
      <p:sp>
        <p:nvSpPr>
          <p:cNvPr id="4" name="AutoShape 4"/>
          <p:cNvSpPr/>
          <p:nvPr/>
        </p:nvSpPr>
        <p:spPr>
          <a:xfrm>
            <a:off x="762000" y="1651000"/>
            <a:ext cx="5207000" cy="4572000"/>
          </a:xfrm>
          <a:prstGeom prst="roundRect">
            <a:avLst>
              <a:gd name="adj" fmla="val 3333"/>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5" name="AutoShape 5"/>
          <p:cNvSpPr/>
          <p:nvPr/>
        </p:nvSpPr>
        <p:spPr>
          <a:xfrm>
            <a:off x="1016000" y="1905000"/>
            <a:ext cx="76200" cy="304800"/>
          </a:xfrm>
          <a:prstGeom prst="roundRect">
            <a:avLst>
              <a:gd name="adj" fmla="val 0"/>
            </a:avLst>
          </a:prstGeom>
          <a:solidFill>
            <a:srgbClr val="00C2B4">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219200" y="1854200"/>
            <a:ext cx="4318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172B4D"/>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核心工作流</a:t>
            </a:r>
            <a:endParaRPr lang="en-US" sz="1100"/>
          </a:p>
        </p:txBody>
      </p:sp>
      <p:sp>
        <p:nvSpPr>
          <p:cNvPr id="7" name="AutoShape 7"/>
          <p:cNvSpPr/>
          <p:nvPr/>
        </p:nvSpPr>
        <p:spPr>
          <a:xfrm>
            <a:off x="1016000" y="2540000"/>
            <a:ext cx="4699000" cy="635000"/>
          </a:xfrm>
          <a:prstGeom prst="roundRect">
            <a:avLst>
              <a:gd name="adj" fmla="val 800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143000" y="2667000"/>
            <a:ext cx="381000" cy="381000"/>
          </a:xfrm>
          <a:prstGeom prst="ellipse">
            <a:avLst/>
          </a:prstGeom>
          <a:solidFill>
            <a:srgbClr val="00C2B4">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143000" y="2667000"/>
            <a:ext cx="381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1</a:t>
            </a:r>
            <a:endParaRPr lang="en-US" sz="1100"/>
          </a:p>
        </p:txBody>
      </p:sp>
      <p:sp>
        <p:nvSpPr>
          <p:cNvPr id="10" name="AutoShape 10"/>
          <p:cNvSpPr/>
          <p:nvPr/>
        </p:nvSpPr>
        <p:spPr>
          <a:xfrm>
            <a:off x="1714500" y="2603500"/>
            <a:ext cx="381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用户输入：</a:t>
            </a: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用户输入模糊的自然语言需求，开启流程。</a:t>
            </a:r>
            <a:endParaRPr lang="en-US" sz="1100"/>
          </a:p>
        </p:txBody>
      </p:sp>
      <p:sp>
        <p:nvSpPr>
          <p:cNvPr id="11" name="AutoShape 11"/>
          <p:cNvSpPr/>
          <p:nvPr/>
        </p:nvSpPr>
        <p:spPr>
          <a:xfrm>
            <a:off x="1016000" y="3302000"/>
            <a:ext cx="4699000" cy="635000"/>
          </a:xfrm>
          <a:prstGeom prst="roundRect">
            <a:avLst>
              <a:gd name="adj" fmla="val 800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1143000" y="3429000"/>
            <a:ext cx="381000" cy="381000"/>
          </a:xfrm>
          <a:prstGeom prst="ellipse">
            <a:avLst/>
          </a:prstGeom>
          <a:solidFill>
            <a:srgbClr val="00C2B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1143000" y="3429000"/>
            <a:ext cx="381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2</a:t>
            </a:r>
            <a:endParaRPr lang="en-US" sz="1100"/>
          </a:p>
        </p:txBody>
      </p:sp>
      <p:sp>
        <p:nvSpPr>
          <p:cNvPr id="14" name="AutoShape 14"/>
          <p:cNvSpPr/>
          <p:nvPr/>
        </p:nvSpPr>
        <p:spPr>
          <a:xfrm>
            <a:off x="1714500" y="3365500"/>
            <a:ext cx="381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模糊点检测：</a:t>
            </a: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自动识别需求中的模糊或歧义点，供用户确认或编辑。</a:t>
            </a:r>
            <a:endParaRPr lang="en-US" sz="1100"/>
          </a:p>
        </p:txBody>
      </p:sp>
      <p:sp>
        <p:nvSpPr>
          <p:cNvPr id="15" name="AutoShape 15"/>
          <p:cNvSpPr/>
          <p:nvPr/>
        </p:nvSpPr>
        <p:spPr>
          <a:xfrm>
            <a:off x="1016000" y="4064000"/>
            <a:ext cx="4699000" cy="635000"/>
          </a:xfrm>
          <a:prstGeom prst="roundRect">
            <a:avLst>
              <a:gd name="adj" fmla="val 800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1143000" y="4191000"/>
            <a:ext cx="381000" cy="381000"/>
          </a:xfrm>
          <a:prstGeom prst="ellipse">
            <a:avLst/>
          </a:prstGeom>
          <a:solidFill>
            <a:srgbClr val="00C2B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1143000" y="4191000"/>
            <a:ext cx="381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3</a:t>
            </a:r>
            <a:endParaRPr lang="en-US" sz="1100"/>
          </a:p>
        </p:txBody>
      </p:sp>
      <p:sp>
        <p:nvSpPr>
          <p:cNvPr id="18" name="AutoShape 18"/>
          <p:cNvSpPr/>
          <p:nvPr/>
        </p:nvSpPr>
        <p:spPr>
          <a:xfrm>
            <a:off x="1714500" y="4127500"/>
            <a:ext cx="381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多轮对话澄清：</a:t>
            </a: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系统主动提问引导，补齐缺失的关键信息。</a:t>
            </a:r>
            <a:endParaRPr lang="en-US" sz="1100"/>
          </a:p>
        </p:txBody>
      </p:sp>
      <p:sp>
        <p:nvSpPr>
          <p:cNvPr id="19" name="AutoShape 19"/>
          <p:cNvSpPr/>
          <p:nvPr/>
        </p:nvSpPr>
        <p:spPr>
          <a:xfrm>
            <a:off x="1016000" y="4826000"/>
            <a:ext cx="4699000" cy="635000"/>
          </a:xfrm>
          <a:prstGeom prst="roundRect">
            <a:avLst>
              <a:gd name="adj" fmla="val 800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1143000" y="4953000"/>
            <a:ext cx="381000" cy="381000"/>
          </a:xfrm>
          <a:prstGeom prst="ellipse">
            <a:avLst/>
          </a:prstGeom>
          <a:solidFill>
            <a:srgbClr val="00C2B4">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1143000" y="4953000"/>
            <a:ext cx="381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4</a:t>
            </a:r>
            <a:endParaRPr lang="en-US" sz="1100"/>
          </a:p>
        </p:txBody>
      </p:sp>
      <p:sp>
        <p:nvSpPr>
          <p:cNvPr id="22" name="AutoShape 22"/>
          <p:cNvSpPr/>
          <p:nvPr/>
        </p:nvSpPr>
        <p:spPr>
          <a:xfrm>
            <a:off x="1714500" y="4889500"/>
            <a:ext cx="381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冲突检测与回滚：</a:t>
            </a: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自动识别修改导致的逻辑冲突，并提供便捷的回滚功能。</a:t>
            </a:r>
            <a:endParaRPr lang="en-US" sz="1100"/>
          </a:p>
        </p:txBody>
      </p:sp>
      <p:sp>
        <p:nvSpPr>
          <p:cNvPr id="23" name="AutoShape 23"/>
          <p:cNvSpPr/>
          <p:nvPr/>
        </p:nvSpPr>
        <p:spPr>
          <a:xfrm>
            <a:off x="1016000" y="5588000"/>
            <a:ext cx="4699000" cy="635000"/>
          </a:xfrm>
          <a:prstGeom prst="roundRect">
            <a:avLst>
              <a:gd name="adj" fmla="val 8000"/>
            </a:avLst>
          </a:prstGeom>
          <a:solidFill>
            <a:srgbClr val="E6FAF8">
              <a:alpha val="100000"/>
            </a:srgbClr>
          </a:solidFill>
          <a:ln w="12700" cap="flat" cmpd="sng">
            <a:solidFill>
              <a:srgbClr val="00C2B4">
                <a:alpha val="100000"/>
              </a:srgbClr>
            </a:solidFill>
            <a:prstDash val="solid"/>
            <a:round/>
          </a:ln>
        </p:spPr>
        <p:txBody>
          <a:bodyPr vert="horz" wrap="square" lIns="63500" tIns="63500" rIns="63500" bIns="63500" rtlCol="0" anchor="ctr"/>
          <a:lstStyle/>
          <a:p>
            <a:pPr algn="ctr">
              <a:defRPr/>
            </a:pPr>
          </a:p>
        </p:txBody>
      </p:sp>
      <p:sp>
        <p:nvSpPr>
          <p:cNvPr id="24" name="AutoShape 24"/>
          <p:cNvSpPr/>
          <p:nvPr/>
        </p:nvSpPr>
        <p:spPr>
          <a:xfrm>
            <a:off x="1143000" y="5715000"/>
            <a:ext cx="381000" cy="381000"/>
          </a:xfrm>
          <a:prstGeom prst="ellipse">
            <a:avLst/>
          </a:prstGeom>
          <a:solidFill>
            <a:srgbClr val="00A095">
              <a:alpha val="100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1143000" y="5715000"/>
            <a:ext cx="381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5</a:t>
            </a:r>
            <a:endParaRPr lang="en-US" sz="1100"/>
          </a:p>
        </p:txBody>
      </p:sp>
      <p:sp>
        <p:nvSpPr>
          <p:cNvPr id="26" name="AutoShape 26"/>
          <p:cNvSpPr/>
          <p:nvPr/>
        </p:nvSpPr>
        <p:spPr>
          <a:xfrm>
            <a:off x="1714500" y="5651500"/>
            <a:ext cx="381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D9488"/>
                </a:solidFill>
                <a:latin typeface="Noto Sans SC" panose="020B0200000000000000" charset="-122"/>
                <a:ea typeface="Noto Sans SC" panose="020B0200000000000000" charset="-122"/>
                <a:cs typeface="Noto Sans SC" panose="020B0200000000000000" charset="-122"/>
                <a:sym typeface="Noto Sans SC" panose="020B0200000000000000" charset="-122"/>
              </a:rPr>
              <a:t>代码生成与安全检测：</a:t>
            </a: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基于完整需求生成代码，并执行自动化安全风险扫描。</a:t>
            </a:r>
            <a:endParaRPr lang="en-US" sz="1100"/>
          </a:p>
        </p:txBody>
      </p:sp>
      <p:sp>
        <p:nvSpPr>
          <p:cNvPr id="27" name="AutoShape 27"/>
          <p:cNvSpPr/>
          <p:nvPr/>
        </p:nvSpPr>
        <p:spPr>
          <a:xfrm>
            <a:off x="6223000" y="1651000"/>
            <a:ext cx="5207000" cy="4572000"/>
          </a:xfrm>
          <a:prstGeom prst="roundRect">
            <a:avLst>
              <a:gd name="adj" fmla="val 3333"/>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28" name="AutoShape 28"/>
          <p:cNvSpPr/>
          <p:nvPr/>
        </p:nvSpPr>
        <p:spPr>
          <a:xfrm>
            <a:off x="6477000" y="1905000"/>
            <a:ext cx="76200" cy="304800"/>
          </a:xfrm>
          <a:prstGeom prst="roundRect">
            <a:avLst>
              <a:gd name="adj" fmla="val 0"/>
            </a:avLst>
          </a:prstGeom>
          <a:solidFill>
            <a:srgbClr val="00C2B4">
              <a:alpha val="100000"/>
            </a:srgbClr>
          </a:solidFill>
          <a:ln w="25400" cap="flat" cmpd="sng">
            <a:noFill/>
            <a:prstDash val="solid"/>
            <a:round/>
          </a:ln>
        </p:spPr>
        <p:txBody>
          <a:bodyPr vert="horz" wrap="square" lIns="63500" tIns="63500" rIns="63500" bIns="63500" rtlCol="0" anchor="ctr"/>
          <a:lstStyle/>
          <a:p>
            <a:pPr algn="ctr">
              <a:defRPr/>
            </a:pPr>
          </a:p>
        </p:txBody>
      </p:sp>
      <p:sp>
        <p:nvSpPr>
          <p:cNvPr id="29" name="AutoShape 29"/>
          <p:cNvSpPr/>
          <p:nvPr/>
        </p:nvSpPr>
        <p:spPr>
          <a:xfrm>
            <a:off x="6680200" y="1854200"/>
            <a:ext cx="4445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172B4D"/>
                </a:solidFill>
                <a:latin typeface="Noto Sans SC" panose="020B0200000000000000" charset="-122"/>
                <a:ea typeface="Noto Sans SC" panose="020B0200000000000000" charset="-122"/>
                <a:cs typeface="Noto Sans SC" panose="020B0200000000000000" charset="-122"/>
                <a:sym typeface="Noto Sans SC" panose="020B0200000000000000" charset="-122"/>
              </a:rPr>
              <a:t>多智能体协作框架</a:t>
            </a:r>
            <a:endParaRPr lang="en-US" sz="1100"/>
          </a:p>
        </p:txBody>
      </p:sp>
      <p:sp>
        <p:nvSpPr>
          <p:cNvPr id="30" name="AutoShape 30"/>
          <p:cNvSpPr/>
          <p:nvPr/>
        </p:nvSpPr>
        <p:spPr>
          <a:xfrm>
            <a:off x="6477000" y="2540000"/>
            <a:ext cx="4699000" cy="889000"/>
          </a:xfrm>
          <a:prstGeom prst="roundRect">
            <a:avLst>
              <a:gd name="adj" fmla="val 11428"/>
            </a:avLst>
          </a:prstGeom>
          <a:solidFill>
            <a:srgbClr val="17F2E4">
              <a:alpha val="12000"/>
            </a:srgbClr>
          </a:solidFill>
          <a:ln w="12700" cap="flat" cmpd="sng">
            <a:solidFill>
              <a:srgbClr val="00C2B4">
                <a:alpha val="40000"/>
              </a:srgbClr>
            </a:solidFill>
            <a:prstDash val="solid"/>
            <a:round/>
          </a:ln>
        </p:spPr>
        <p:txBody>
          <a:bodyPr vert="horz" wrap="square" lIns="63500" tIns="63500" rIns="63500" bIns="63500" rtlCol="0" anchor="ctr"/>
          <a:lstStyle/>
          <a:p>
            <a:pPr algn="ctr">
              <a:defRPr/>
            </a:pPr>
          </a:p>
        </p:txBody>
      </p:sp>
      <p:pic>
        <p:nvPicPr>
          <p:cNvPr id="31" name="Picture 31"/>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67500" y="2730500"/>
            <a:ext cx="508000" cy="508000"/>
          </a:xfrm>
          <a:prstGeom prst="rect">
            <a:avLst/>
          </a:prstGeom>
        </p:spPr>
      </p:pic>
      <p:sp>
        <p:nvSpPr>
          <p:cNvPr id="32" name="AutoShape 32"/>
          <p:cNvSpPr/>
          <p:nvPr/>
        </p:nvSpPr>
        <p:spPr>
          <a:xfrm>
            <a:off x="7366000" y="2667000"/>
            <a:ext cx="3683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中央协调器 (Central Coordinator)</a:t>
            </a:r>
            <a:endParaRPr lang="en-US" sz="1100"/>
          </a:p>
          <a:p>
            <a:pPr indent="0" algn="l">
              <a:lnSpc>
                <a:spcPct val="125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a:t>
            </a:r>
            <a:r>
              <a:rPr lang="en-US" sz="1200" b="1" i="0" u="none" strike="noStrike">
                <a:solidFill>
                  <a:srgbClr val="008C82"/>
                </a:solidFill>
                <a:latin typeface="Noto Sans SC" panose="020B0200000000000000" charset="-122"/>
                <a:ea typeface="Noto Sans SC" panose="020B0200000000000000" charset="-122"/>
                <a:cs typeface="Noto Sans SC" panose="020B0200000000000000" charset="-122"/>
                <a:sym typeface="Noto Sans SC" panose="020B0200000000000000" charset="-122"/>
              </a:rPr>
              <a:t>有限状态机 (FSM)</a:t>
            </a: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管理全局会话状态，是系统的“大脑”。</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3" name="AutoShape 33"/>
          <p:cNvSpPr/>
          <p:nvPr/>
        </p:nvSpPr>
        <p:spPr>
          <a:xfrm>
            <a:off x="6477000" y="3683000"/>
            <a:ext cx="1460500" cy="1206500"/>
          </a:xfrm>
          <a:prstGeom prst="roundRect">
            <a:avLst>
              <a:gd name="adj" fmla="val 6315"/>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34" name="Picture 3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04000" y="3810000"/>
            <a:ext cx="279400" cy="279400"/>
          </a:xfrm>
          <a:prstGeom prst="rect">
            <a:avLst/>
          </a:prstGeom>
        </p:spPr>
      </p:pic>
      <p:sp>
        <p:nvSpPr>
          <p:cNvPr id="35" name="AutoShape 35"/>
          <p:cNvSpPr/>
          <p:nvPr/>
        </p:nvSpPr>
        <p:spPr>
          <a:xfrm>
            <a:off x="6921500" y="3784600"/>
            <a:ext cx="889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分析智能体</a:t>
            </a:r>
            <a:endParaRPr lang="en-US" sz="1100"/>
          </a:p>
          <a:p>
            <a:pPr indent="0" algn="l">
              <a:lnSpc>
                <a:spcPct val="125000"/>
              </a:lnSpc>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检测需求中的模糊性与歧义点</a:t>
            </a:r>
            <a:endPar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6" name="AutoShape 36"/>
          <p:cNvSpPr/>
          <p:nvPr/>
        </p:nvSpPr>
        <p:spPr>
          <a:xfrm>
            <a:off x="8089900" y="3683000"/>
            <a:ext cx="1460500" cy="1206500"/>
          </a:xfrm>
          <a:prstGeom prst="roundRect">
            <a:avLst>
              <a:gd name="adj" fmla="val 6315"/>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37" name="Picture 37"/>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216900" y="3810000"/>
            <a:ext cx="279400" cy="279400"/>
          </a:xfrm>
          <a:prstGeom prst="rect">
            <a:avLst/>
          </a:prstGeom>
        </p:spPr>
      </p:pic>
      <p:sp>
        <p:nvSpPr>
          <p:cNvPr id="38" name="AutoShape 38"/>
          <p:cNvSpPr/>
          <p:nvPr/>
        </p:nvSpPr>
        <p:spPr>
          <a:xfrm>
            <a:off x="8534400" y="3784600"/>
            <a:ext cx="889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提问智能体</a:t>
            </a:r>
            <a:endParaRPr lang="en-US" sz="1100"/>
          </a:p>
          <a:p>
            <a:pPr indent="0" algn="l">
              <a:lnSpc>
                <a:spcPct val="125000"/>
              </a:lnSpc>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生成澄清问题，引导补充信息</a:t>
            </a:r>
            <a:endPar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9" name="AutoShape 39"/>
          <p:cNvSpPr/>
          <p:nvPr/>
        </p:nvSpPr>
        <p:spPr>
          <a:xfrm>
            <a:off x="9715500" y="3683000"/>
            <a:ext cx="1460500" cy="1206500"/>
          </a:xfrm>
          <a:prstGeom prst="roundRect">
            <a:avLst>
              <a:gd name="adj" fmla="val 6315"/>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40" name="Picture 40"/>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842500" y="3810000"/>
            <a:ext cx="279400" cy="279400"/>
          </a:xfrm>
          <a:prstGeom prst="rect">
            <a:avLst/>
          </a:prstGeom>
        </p:spPr>
      </p:pic>
      <p:sp>
        <p:nvSpPr>
          <p:cNvPr id="41" name="AutoShape 41"/>
          <p:cNvSpPr/>
          <p:nvPr/>
        </p:nvSpPr>
        <p:spPr>
          <a:xfrm>
            <a:off x="10160000" y="3784600"/>
            <a:ext cx="889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代码生成</a:t>
            </a:r>
            <a:endParaRPr lang="en-US" sz="1100"/>
          </a:p>
          <a:p>
            <a:pPr indent="0" algn="l">
              <a:lnSpc>
                <a:spcPct val="125000"/>
              </a:lnSpc>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基于完整规约生成代码并优化</a:t>
            </a:r>
            <a:endPar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2" name="AutoShape 42"/>
          <p:cNvSpPr/>
          <p:nvPr/>
        </p:nvSpPr>
        <p:spPr>
          <a:xfrm>
            <a:off x="6654800" y="5080000"/>
            <a:ext cx="2159000" cy="1079500"/>
          </a:xfrm>
          <a:prstGeom prst="roundRect">
            <a:avLst>
              <a:gd name="adj" fmla="val 7058"/>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43" name="Picture 43"/>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781800" y="5270500"/>
            <a:ext cx="304800" cy="304800"/>
          </a:xfrm>
          <a:prstGeom prst="rect">
            <a:avLst/>
          </a:prstGeom>
        </p:spPr>
      </p:pic>
      <p:sp>
        <p:nvSpPr>
          <p:cNvPr id="44" name="AutoShape 44"/>
          <p:cNvSpPr/>
          <p:nvPr/>
        </p:nvSpPr>
        <p:spPr>
          <a:xfrm>
            <a:off x="7175500" y="5207000"/>
            <a:ext cx="1524000" cy="825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历史经验智能体</a:t>
            </a:r>
            <a:endParaRPr lang="en-US" sz="1100"/>
          </a:p>
          <a:p>
            <a:pPr indent="0" algn="l">
              <a:lnSpc>
                <a:spcPct val="125000"/>
              </a:lnSpc>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学习并复用过往案例与经验</a:t>
            </a:r>
            <a:endPar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5" name="AutoShape 45"/>
          <p:cNvSpPr/>
          <p:nvPr/>
        </p:nvSpPr>
        <p:spPr>
          <a:xfrm>
            <a:off x="9004300" y="5080000"/>
            <a:ext cx="2159000" cy="1079500"/>
          </a:xfrm>
          <a:prstGeom prst="roundRect">
            <a:avLst>
              <a:gd name="adj" fmla="val 7058"/>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46" name="Picture 46"/>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131300" y="5270500"/>
            <a:ext cx="304800" cy="304800"/>
          </a:xfrm>
          <a:prstGeom prst="rect">
            <a:avLst/>
          </a:prstGeom>
        </p:spPr>
      </p:pic>
      <p:sp>
        <p:nvSpPr>
          <p:cNvPr id="47" name="AutoShape 47"/>
          <p:cNvSpPr/>
          <p:nvPr/>
        </p:nvSpPr>
        <p:spPr>
          <a:xfrm>
            <a:off x="9525000" y="5207000"/>
            <a:ext cx="1524000" cy="825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回滚管理智能体</a:t>
            </a:r>
            <a:endParaRPr lang="en-US" sz="1100"/>
          </a:p>
          <a:p>
            <a:pPr indent="0" algn="l">
              <a:lnSpc>
                <a:spcPct val="125000"/>
              </a:lnSpc>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处理用户修改与历史状态回滚</a:t>
            </a:r>
            <a:endPar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03 关键技术设计详解</a:t>
            </a:r>
            <a:endParaRPr lang="en-US" sz="1100"/>
          </a:p>
        </p:txBody>
      </p:sp>
      <p:sp>
        <p:nvSpPr>
          <p:cNvPr id="4" name="AutoShape 4"/>
          <p:cNvSpPr/>
          <p:nvPr/>
        </p:nvSpPr>
        <p:spPr>
          <a:xfrm>
            <a:off x="762000" y="1651000"/>
            <a:ext cx="5207000" cy="2413000"/>
          </a:xfrm>
          <a:prstGeom prst="roundRect">
            <a:avLst>
              <a:gd name="adj" fmla="val 6315"/>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5" name="AutoShape 5"/>
          <p:cNvSpPr/>
          <p:nvPr/>
        </p:nvSpPr>
        <p:spPr>
          <a:xfrm>
            <a:off x="1016000" y="2032000"/>
            <a:ext cx="889000" cy="889000"/>
          </a:xfrm>
          <a:prstGeom prst="ellipse">
            <a:avLst/>
          </a:prstGeom>
          <a:solidFill>
            <a:srgbClr val="E6FF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2222500"/>
            <a:ext cx="889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200" b="1" i="0" u="none" strike="noStrike">
                <a:solidFill>
                  <a:srgbClr val="00C2B4"/>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7" name="AutoShape 7"/>
          <p:cNvSpPr/>
          <p:nvPr/>
        </p:nvSpPr>
        <p:spPr>
          <a:xfrm>
            <a:off x="2159000" y="1905000"/>
            <a:ext cx="3556000" cy="190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模糊性检测</a:t>
            </a:r>
            <a:endParaRPr lang="en-US" sz="1100"/>
          </a:p>
          <a:p>
            <a:pPr indent="0" algn="l">
              <a:lnSpc>
                <a:spcPct val="108000"/>
              </a:lnSpc>
              <a:spcBef>
                <a:spcPts val="800"/>
              </a:spcBef>
            </a:pPr>
            <a:r>
              <a:rPr lang="en-US" sz="1200" b="1" i="0" u="none" strike="noStrike">
                <a:solidFill>
                  <a:srgbClr val="00C2B4"/>
                </a:solidFill>
                <a:latin typeface="Noto Sans SC" panose="020B0200000000000000" charset="-122"/>
                <a:ea typeface="Noto Sans SC" panose="020B0200000000000000" charset="-122"/>
                <a:cs typeface="Noto Sans SC" panose="020B0200000000000000" charset="-122"/>
                <a:sym typeface="Noto Sans SC" panose="020B0200000000000000" charset="-122"/>
              </a:rPr>
              <a:t>策略：</a:t>
            </a: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“开放式反思 + 结构化后备”</a:t>
            </a:r>
            <a:endPar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8000"/>
              </a:lnSpc>
              <a:spcBef>
                <a:spcPts val="400"/>
              </a:spcBef>
            </a:pPr>
            <a:r>
              <a:rPr lang="en-US" sz="1200" b="1"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机制：</a:t>
            </a: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首先让LLM开放式地反思需求中的潜在问题，再使用结构化核对清单进行补充，确保检测的全面性与鲁棒性。</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6223000" y="1651000"/>
            <a:ext cx="5207000" cy="2413000"/>
          </a:xfrm>
          <a:prstGeom prst="roundRect">
            <a:avLst>
              <a:gd name="adj" fmla="val 6315"/>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9" name="AutoShape 9"/>
          <p:cNvSpPr/>
          <p:nvPr/>
        </p:nvSpPr>
        <p:spPr>
          <a:xfrm>
            <a:off x="6477000" y="2032000"/>
            <a:ext cx="889000" cy="889000"/>
          </a:xfrm>
          <a:prstGeom prst="ellipse">
            <a:avLst/>
          </a:prstGeom>
          <a:solidFill>
            <a:srgbClr val="E6FF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6477000" y="2222500"/>
            <a:ext cx="889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200" b="1" i="0" u="none" strike="noStrike">
                <a:solidFill>
                  <a:srgbClr val="00C2B4"/>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11" name="AutoShape 11"/>
          <p:cNvSpPr/>
          <p:nvPr/>
        </p:nvSpPr>
        <p:spPr>
          <a:xfrm>
            <a:off x="7620000" y="1905000"/>
            <a:ext cx="3556000" cy="190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对话管理</a:t>
            </a:r>
            <a:endParaRPr lang="en-US" sz="1100"/>
          </a:p>
          <a:p>
            <a:pPr indent="0" algn="l">
              <a:lnSpc>
                <a:spcPct val="108000"/>
              </a:lnSpc>
              <a:spcBef>
                <a:spcPts val="800"/>
              </a:spcBef>
            </a:pPr>
            <a:r>
              <a:rPr lang="en-US" sz="1200" b="1" i="0" u="none" strike="noStrike">
                <a:solidFill>
                  <a:srgbClr val="00C2B4"/>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a:t>
            </a: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基于有限状态机 (FSM) 的状态流转</a:t>
            </a:r>
            <a:endPar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8000"/>
              </a:lnSpc>
              <a:spcBef>
                <a:spcPts val="400"/>
              </a:spcBef>
            </a:pPr>
            <a:r>
              <a:rPr lang="en-US" sz="1200" b="1"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亮点：冲突检测与回滚机制。</a:t>
            </a: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利用状态栈快照技术，当用户修改历史答案时，自动检测后续规约一致性并支持状态回滚。</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nvSpPr>
        <p:spPr>
          <a:xfrm>
            <a:off x="762000" y="4191000"/>
            <a:ext cx="5207000" cy="2413000"/>
          </a:xfrm>
          <a:prstGeom prst="roundRect">
            <a:avLst>
              <a:gd name="adj" fmla="val 6315"/>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3" name="AutoShape 13"/>
          <p:cNvSpPr/>
          <p:nvPr/>
        </p:nvSpPr>
        <p:spPr>
          <a:xfrm>
            <a:off x="1016000" y="4572000"/>
            <a:ext cx="889000" cy="889000"/>
          </a:xfrm>
          <a:prstGeom prst="ellipse">
            <a:avLst/>
          </a:prstGeom>
          <a:solidFill>
            <a:srgbClr val="E6FF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1016000" y="4762500"/>
            <a:ext cx="889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200" b="1" i="0" u="none" strike="noStrike">
                <a:solidFill>
                  <a:srgbClr val="00C2B4"/>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15" name="AutoShape 15"/>
          <p:cNvSpPr/>
          <p:nvPr/>
        </p:nvSpPr>
        <p:spPr>
          <a:xfrm>
            <a:off x="2159000" y="4445000"/>
            <a:ext cx="3556000" cy="190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历史经验学习</a:t>
            </a:r>
            <a:endParaRPr lang="en-US" sz="1100"/>
          </a:p>
          <a:p>
            <a:pPr indent="0" algn="l">
              <a:lnSpc>
                <a:spcPct val="117000"/>
              </a:lnSpc>
              <a:spcBef>
                <a:spcPts val="1200"/>
              </a:spcBef>
            </a:pPr>
            <a:r>
              <a:rPr lang="en-US" sz="1200" b="1" i="0" u="none" strike="noStrike">
                <a:solidFill>
                  <a:srgbClr val="00C2B4"/>
                </a:solidFill>
                <a:latin typeface="Noto Sans SC" panose="020B0200000000000000" charset="-122"/>
                <a:ea typeface="Noto Sans SC" panose="020B0200000000000000" charset="-122"/>
                <a:cs typeface="Noto Sans SC" panose="020B0200000000000000" charset="-122"/>
                <a:sym typeface="Noto Sans SC" panose="020B0200000000000000" charset="-122"/>
              </a:rPr>
              <a:t>机制：</a:t>
            </a: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系统自动记录并维护成功的“需求-规约”案例库。当新需求输入时，通过关键词相似度检索，将最匹配的历史规约作为上下文参考注入提示词中，辅助LLM生成高质量内容。</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AutoShape 16"/>
          <p:cNvSpPr/>
          <p:nvPr/>
        </p:nvSpPr>
        <p:spPr>
          <a:xfrm>
            <a:off x="6223000" y="4191000"/>
            <a:ext cx="5207000" cy="2413000"/>
          </a:xfrm>
          <a:prstGeom prst="roundRect">
            <a:avLst>
              <a:gd name="adj" fmla="val 6315"/>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7" name="AutoShape 17"/>
          <p:cNvSpPr/>
          <p:nvPr/>
        </p:nvSpPr>
        <p:spPr>
          <a:xfrm>
            <a:off x="6477000" y="4572000"/>
            <a:ext cx="889000" cy="889000"/>
          </a:xfrm>
          <a:prstGeom prst="ellipse">
            <a:avLst/>
          </a:prstGeom>
          <a:solidFill>
            <a:srgbClr val="E6FF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6477000" y="4762500"/>
            <a:ext cx="889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200" b="1" i="0" u="none" strike="noStrike">
                <a:solidFill>
                  <a:srgbClr val="00C2B4"/>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sp>
        <p:nvSpPr>
          <p:cNvPr id="19" name="AutoShape 19"/>
          <p:cNvSpPr/>
          <p:nvPr/>
        </p:nvSpPr>
        <p:spPr>
          <a:xfrm>
            <a:off x="7620000" y="4445000"/>
            <a:ext cx="3556000" cy="190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安全检测</a:t>
            </a:r>
            <a:endParaRPr lang="en-US" sz="1100"/>
          </a:p>
          <a:p>
            <a:pPr indent="0" algn="l">
              <a:lnSpc>
                <a:spcPct val="117000"/>
              </a:lnSpc>
              <a:spcBef>
                <a:spcPts val="1200"/>
              </a:spcBef>
            </a:pPr>
            <a:r>
              <a:rPr lang="en-US" sz="1200" b="1" i="0" u="none" strike="noStrike">
                <a:solidFill>
                  <a:srgbClr val="00C2B4"/>
                </a:solidFill>
                <a:latin typeface="Noto Sans SC" panose="020B0200000000000000" charset="-122"/>
                <a:ea typeface="Noto Sans SC" panose="020B0200000000000000" charset="-122"/>
                <a:cs typeface="Noto Sans SC" panose="020B0200000000000000" charset="-122"/>
                <a:sym typeface="Noto Sans SC" panose="020B0200000000000000" charset="-122"/>
              </a:rPr>
              <a:t>机制：</a:t>
            </a: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集成内置规则引擎，对最终生成的代码进行自动化静态分析，识别并提示常见的安全风险，如 SQL注入、硬编码密钥泄露、敏感路径遍历等，降低工程落地风险。</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04 实验设计与核心结果</a:t>
            </a:r>
            <a:endParaRPr lang="en-US" sz="1100"/>
          </a:p>
        </p:txBody>
      </p:sp>
      <p:sp>
        <p:nvSpPr>
          <p:cNvPr id="4" name="AutoShape 4"/>
          <p:cNvSpPr/>
          <p:nvPr/>
        </p:nvSpPr>
        <p:spPr>
          <a:xfrm>
            <a:off x="762000" y="1778000"/>
            <a:ext cx="3302000" cy="4318000"/>
          </a:xfrm>
          <a:prstGeom prst="roundRect">
            <a:avLst>
              <a:gd name="adj" fmla="val 46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032000"/>
            <a:ext cx="355600" cy="355600"/>
          </a:xfrm>
          <a:prstGeom prst="rect">
            <a:avLst/>
          </a:prstGeom>
        </p:spPr>
      </p:pic>
      <p:sp>
        <p:nvSpPr>
          <p:cNvPr id="6" name="AutoShape 6"/>
          <p:cNvSpPr/>
          <p:nvPr/>
        </p:nvSpPr>
        <p:spPr>
          <a:xfrm>
            <a:off x="1524000" y="2006600"/>
            <a:ext cx="2286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实验设置</a:t>
            </a:r>
            <a:endParaRPr lang="en-US" sz="1100"/>
          </a:p>
        </p:txBody>
      </p:sp>
      <p:sp>
        <p:nvSpPr>
          <p:cNvPr id="7" name="AutoShape 7"/>
          <p:cNvSpPr/>
          <p:nvPr/>
        </p:nvSpPr>
        <p:spPr>
          <a:xfrm>
            <a:off x="1016000" y="2794000"/>
            <a:ext cx="2794000" cy="3048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b="1" i="0" u="none" strike="noStrike">
                <a:solidFill>
                  <a:srgbClr val="00C2B4"/>
                </a:solidFill>
                <a:latin typeface="Noto Sans SC" panose="020B0200000000000000" charset="-122"/>
                <a:ea typeface="Noto Sans SC" panose="020B0200000000000000" charset="-122"/>
                <a:cs typeface="Noto Sans SC" panose="020B0200000000000000" charset="-122"/>
                <a:sym typeface="Noto Sans SC" panose="020B0200000000000000" charset="-122"/>
              </a:rPr>
              <a:t>● 数据集构建：</a:t>
            </a:r>
            <a:r>
              <a:rPr lang="en-US" altLang="zh-CN" sz="130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从</a:t>
            </a:r>
            <a:r>
              <a:rPr lang="en-US" altLang="zh-CN"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GitHub Feature Requests</a:t>
            </a:r>
            <a:r>
              <a:rPr lang="zh-CN" alt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数据集</a:t>
            </a: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精选10个典型的模糊编程需求（如“写一个排序函数”、“计算</a:t>
            </a:r>
            <a:r>
              <a:rPr lang="zh-CN" alt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平均值</a:t>
            </a: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”等）作为测试样本。</a:t>
            </a:r>
            <a:endParaRPr lang="en-US" sz="1100"/>
          </a:p>
          <a:p>
            <a:pPr indent="0" algn="l">
              <a:lnSpc>
                <a:spcPct val="117000"/>
              </a:lnSpc>
              <a:spcBef>
                <a:spcPts val="1600"/>
              </a:spcBef>
            </a:pPr>
            <a:r>
              <a:rPr lang="en-US" sz="1400" b="1" i="0" u="none" strike="noStrike">
                <a:solidFill>
                  <a:srgbClr val="00C2B4"/>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核心指标：</a:t>
            </a: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采用代码通过率 (Pass@1)，即生成代码首次运行通过所有测试用例的概率。</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spcBef>
                <a:spcPts val="1600"/>
              </a:spcBef>
            </a:pPr>
            <a:r>
              <a:rPr lang="en-US" sz="1400" b="1" i="0" u="none" strike="noStrike">
                <a:solidFill>
                  <a:srgbClr val="00C2B4"/>
                </a:solidFill>
                <a:latin typeface="Noto Sans SC" panose="020B0200000000000000" charset="-122"/>
                <a:ea typeface="Noto Sans SC" panose="020B0200000000000000" charset="-122"/>
                <a:cs typeface="Noto Sans SC" panose="020B0200000000000000" charset="-122"/>
                <a:sym typeface="Noto Sans SC" panose="020B0200000000000000" charset="-122"/>
              </a:rPr>
              <a:t>● 分组对照：</a:t>
            </a: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设置“直接生成(LLM)”为对照组，“交互澄清后生成(本系统)”为实验组。</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4445000" y="1778000"/>
            <a:ext cx="3556000" cy="4318000"/>
          </a:xfrm>
          <a:prstGeom prst="roundRect">
            <a:avLst>
              <a:gd name="adj" fmla="val 428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699000" y="2032000"/>
            <a:ext cx="355600" cy="355600"/>
          </a:xfrm>
          <a:prstGeom prst="rect">
            <a:avLst/>
          </a:prstGeom>
        </p:spPr>
      </p:pic>
      <p:sp>
        <p:nvSpPr>
          <p:cNvPr id="10" name="AutoShape 10"/>
          <p:cNvSpPr/>
          <p:nvPr/>
        </p:nvSpPr>
        <p:spPr>
          <a:xfrm>
            <a:off x="5207000" y="2006600"/>
            <a:ext cx="2540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核心结果对比</a:t>
            </a:r>
            <a:endParaRPr lang="en-US" sz="1100"/>
          </a:p>
        </p:txBody>
      </p:sp>
      <p:sp>
        <p:nvSpPr>
          <p:cNvPr id="12" name="AutoShape 12"/>
          <p:cNvSpPr/>
          <p:nvPr/>
        </p:nvSpPr>
        <p:spPr>
          <a:xfrm>
            <a:off x="4699000" y="4699000"/>
            <a:ext cx="3048000" cy="1143000"/>
          </a:xfrm>
          <a:prstGeom prst="roundRect">
            <a:avLst>
              <a:gd name="adj" fmla="val 8888"/>
            </a:avLst>
          </a:prstGeom>
          <a:solidFill>
            <a:srgbClr val="F0FDFA">
              <a:alpha val="100000"/>
            </a:srgbClr>
          </a:solidFill>
          <a:ln w="12700" cap="flat" cmpd="sng">
            <a:solidFill>
              <a:srgbClr val="00C2B4">
                <a:alpha val="3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4826000" y="4889500"/>
            <a:ext cx="2794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绝对提升</a:t>
            </a:r>
            <a:r>
              <a:rPr lang="en-US" sz="18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30.0%</a:t>
            </a:r>
            <a:r>
              <a:rPr lang="en-US" sz="13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相对提</a:t>
            </a:r>
            <a:r>
              <a:rPr lang="en-US" sz="13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升</a:t>
            </a:r>
            <a:r>
              <a:rPr lang="en-US" sz="18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42.9%</a:t>
            </a:r>
            <a:endParaRPr lang="en-US" sz="1100"/>
          </a:p>
          <a:p>
            <a:pPr indent="0" algn="ctr">
              <a:lnSpc>
                <a:spcPct val="125000"/>
              </a:lnSpc>
              <a:spcBef>
                <a:spcPts val="600"/>
              </a:spcBef>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交互澄清显著降低了代码缺陷率</a:t>
            </a:r>
            <a:endPar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nvSpPr>
        <p:spPr>
          <a:xfrm>
            <a:off x="8255000" y="1778000"/>
            <a:ext cx="3175000" cy="4318000"/>
          </a:xfrm>
          <a:prstGeom prst="roundRect">
            <a:avLst>
              <a:gd name="adj" fmla="val 48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509000" y="2032000"/>
            <a:ext cx="355600" cy="355600"/>
          </a:xfrm>
          <a:prstGeom prst="rect">
            <a:avLst/>
          </a:prstGeom>
        </p:spPr>
      </p:pic>
      <p:sp>
        <p:nvSpPr>
          <p:cNvPr id="16" name="AutoShape 16"/>
          <p:cNvSpPr/>
          <p:nvPr/>
        </p:nvSpPr>
        <p:spPr>
          <a:xfrm>
            <a:off x="9017000" y="2006600"/>
            <a:ext cx="2159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典型案例分析</a:t>
            </a:r>
            <a:endParaRPr lang="en-US" sz="1100"/>
          </a:p>
        </p:txBody>
      </p:sp>
      <p:sp>
        <p:nvSpPr>
          <p:cNvPr id="17" name="AutoShape 17"/>
          <p:cNvSpPr/>
          <p:nvPr/>
        </p:nvSpPr>
        <p:spPr>
          <a:xfrm>
            <a:off x="8509000" y="2794000"/>
            <a:ext cx="2667000" cy="304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1" i="0" u="none" strike="noStrike">
                <a:solidFill>
                  <a:srgbClr val="00C2B4"/>
                </a:solidFill>
                <a:latin typeface="Noto Sans SC" panose="020B0200000000000000" charset="-122"/>
                <a:ea typeface="Noto Sans SC" panose="020B0200000000000000" charset="-122"/>
                <a:cs typeface="Noto Sans SC" panose="020B0200000000000000" charset="-122"/>
                <a:sym typeface="Noto Sans SC" panose="020B0200000000000000" charset="-122"/>
              </a:rPr>
              <a:t>📝 原始需求：</a:t>
            </a: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“写一个Python函数计算阶乘”。</a:t>
            </a:r>
            <a:endParaRPr lang="en-US" sz="1100"/>
          </a:p>
          <a:p>
            <a:pPr indent="0" algn="l">
              <a:lnSpc>
                <a:spcPct val="108000"/>
              </a:lnSpc>
              <a:spcBef>
                <a:spcPts val="1400"/>
              </a:spcBef>
            </a:pPr>
            <a:r>
              <a:rPr lang="en-US" sz="1400" b="1" i="0" u="none" strike="noStrike">
                <a:solidFill>
                  <a:srgbClr val="D92D20"/>
                </a:solidFill>
                <a:latin typeface="Noto Sans SC" panose="020B0200000000000000" charset="-122"/>
                <a:ea typeface="Noto Sans SC" panose="020B0200000000000000" charset="-122"/>
                <a:cs typeface="Noto Sans SC" panose="020B0200000000000000" charset="-122"/>
                <a:sym typeface="Noto Sans SC" panose="020B0200000000000000" charset="-122"/>
              </a:rPr>
              <a:t>⚠️ 直接生成问题：</a:t>
            </a: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生成的代码未处理负数输入，导致运行时抛出异常，无法通过测试。</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8000"/>
              </a:lnSpc>
              <a:spcBef>
                <a:spcPts val="1400"/>
              </a:spcBef>
            </a:pPr>
            <a:r>
              <a:rPr lang="en-US" sz="14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 系统澄清：</a:t>
            </a: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主动提问：“输入的数值是否可能为负数？如果是，应如何处理？”。</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8000"/>
              </a:lnSpc>
              <a:spcBef>
                <a:spcPts val="1400"/>
              </a:spcBef>
            </a:pPr>
            <a:r>
              <a:rPr lang="en-US" sz="14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 最终结果：</a:t>
            </a: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生成了包含完整负数输入判断与异常抛出逻辑的健壮代码，成功通过测试。</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aphicFrame>
        <p:nvGraphicFramePr>
          <p:cNvPr id="19" name="图表 18"/>
          <p:cNvGraphicFramePr/>
          <p:nvPr/>
        </p:nvGraphicFramePr>
        <p:xfrm>
          <a:off x="4898390" y="2436495"/>
          <a:ext cx="2776220" cy="2262505"/>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04 系统功能与性能验证</a:t>
            </a:r>
            <a:endParaRPr lang="en-US" sz="1100"/>
          </a:p>
        </p:txBody>
      </p:sp>
      <p:sp>
        <p:nvSpPr>
          <p:cNvPr id="4" name="AutoShape 4"/>
          <p:cNvSpPr/>
          <p:nvPr/>
        </p:nvSpPr>
        <p:spPr>
          <a:xfrm>
            <a:off x="762000" y="1778000"/>
            <a:ext cx="5207000" cy="4445000"/>
          </a:xfrm>
          <a:prstGeom prst="roundRect">
            <a:avLst>
              <a:gd name="adj" fmla="val 3428"/>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6800" y="2032000"/>
            <a:ext cx="355600" cy="355600"/>
          </a:xfrm>
          <a:prstGeom prst="rect">
            <a:avLst/>
          </a:prstGeom>
        </p:spPr>
      </p:pic>
      <p:sp>
        <p:nvSpPr>
          <p:cNvPr id="6" name="AutoShape 6"/>
          <p:cNvSpPr/>
          <p:nvPr/>
        </p:nvSpPr>
        <p:spPr>
          <a:xfrm>
            <a:off x="1574800" y="2006600"/>
            <a:ext cx="3810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00C2B4"/>
                </a:solidFill>
                <a:latin typeface="Noto Sans SC" panose="020B0200000000000000" charset="-122"/>
                <a:ea typeface="Noto Sans SC" panose="020B0200000000000000" charset="-122"/>
                <a:cs typeface="Noto Sans SC" panose="020B0200000000000000" charset="-122"/>
                <a:sym typeface="Noto Sans SC" panose="020B0200000000000000" charset="-122"/>
              </a:rPr>
              <a:t>功能验证：全功能闭环实现</a:t>
            </a:r>
            <a:endParaRPr lang="en-US" sz="1100"/>
          </a:p>
        </p:txBody>
      </p:sp>
      <p:sp>
        <p:nvSpPr>
          <p:cNvPr id="7" name="AutoShape 7"/>
          <p:cNvSpPr/>
          <p:nvPr/>
        </p:nvSpPr>
        <p:spPr>
          <a:xfrm>
            <a:off x="1066800" y="2794000"/>
            <a:ext cx="2159000" cy="2921000"/>
          </a:xfrm>
          <a:prstGeom prst="rect">
            <a:avLst/>
          </a:prstGeom>
          <a:noFill/>
          <a:ln w="12700" cap="flat" cmpd="sng">
            <a:noFill/>
            <a:prstDash val="solid"/>
            <a:round/>
          </a:ln>
        </p:spPr>
        <p:txBody>
          <a:bodyPr vert="horz" wrap="square" lIns="0" tIns="0" rIns="0" bIns="0" rtlCol="0" anchor="t" anchorCtr="0"/>
          <a:lstStyle/>
          <a:p>
            <a:pPr indent="0" algn="l">
              <a:lnSpc>
                <a:spcPct val="133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模糊点可视化编辑</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直观展示检测到的模糊点，支持用户交互修正，确保需求理解准确。</a:t>
            </a:r>
            <a:endParaRPr lang="en-US" sz="1100"/>
          </a:p>
          <a:p>
            <a:pPr indent="0" algn="l">
              <a:lnSpc>
                <a:spcPct val="133000"/>
              </a:lnSpc>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冲突检测与回滚</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自动识别逻辑冲突，支持一键回滚至任意历史对话节点，提升调试效率。</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33000"/>
              </a:lnSpc>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历史任务追溯与复用</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完整记录历史生成任务，支持查询与快速复用，沉淀个人知识库。</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3429000" y="2794000"/>
            <a:ext cx="2159000" cy="2921000"/>
          </a:xfrm>
          <a:prstGeom prst="rect">
            <a:avLst/>
          </a:prstGeom>
          <a:noFill/>
          <a:ln w="12700" cap="flat" cmpd="sng">
            <a:noFill/>
            <a:prstDash val="solid"/>
            <a:round/>
          </a:ln>
        </p:spPr>
        <p:txBody>
          <a:bodyPr vert="horz" wrap="square" lIns="0" tIns="0" rIns="0" bIns="0" rtlCol="0" anchor="t" anchorCtr="0"/>
          <a:lstStyle/>
          <a:p>
            <a:pPr indent="0" algn="l">
              <a:lnSpc>
                <a:spcPct val="133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多轮对话澄清机制</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流畅的问答交互界面，引导用户补充上下文，消除需求歧义。</a:t>
            </a:r>
            <a:endParaRPr lang="en-US" sz="1100"/>
          </a:p>
          <a:p>
            <a:pPr indent="0" algn="l">
              <a:lnSpc>
                <a:spcPct val="133000"/>
              </a:lnSpc>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代码自动评分体系</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生成代码后自动进行可读性、安全性双重评分，确保交付质量。</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33000"/>
              </a:lnSpc>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后台管理与案例沉淀</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集成用户管理、案例审核功能，系统自动沉淀高质量成功案例库。</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6223000" y="1778000"/>
            <a:ext cx="5207000" cy="4445000"/>
          </a:xfrm>
          <a:prstGeom prst="roundRect">
            <a:avLst>
              <a:gd name="adj" fmla="val 3428"/>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27800" y="2032000"/>
            <a:ext cx="355600" cy="355600"/>
          </a:xfrm>
          <a:prstGeom prst="rect">
            <a:avLst/>
          </a:prstGeom>
        </p:spPr>
      </p:pic>
      <p:sp>
        <p:nvSpPr>
          <p:cNvPr id="11" name="AutoShape 11"/>
          <p:cNvSpPr/>
          <p:nvPr/>
        </p:nvSpPr>
        <p:spPr>
          <a:xfrm>
            <a:off x="7035800" y="2006600"/>
            <a:ext cx="3810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00C2B4"/>
                </a:solidFill>
                <a:latin typeface="Noto Sans SC" panose="020B0200000000000000" charset="-122"/>
                <a:ea typeface="Noto Sans SC" panose="020B0200000000000000" charset="-122"/>
                <a:cs typeface="Noto Sans SC" panose="020B0200000000000000" charset="-122"/>
                <a:sym typeface="Noto Sans SC" panose="020B0200000000000000" charset="-122"/>
              </a:rPr>
              <a:t>性能验证：关键指标达标</a:t>
            </a:r>
            <a:endParaRPr lang="en-US" sz="1100"/>
          </a:p>
        </p:txBody>
      </p:sp>
      <p:sp>
        <p:nvSpPr>
          <p:cNvPr id="12" name="AutoShape 12"/>
          <p:cNvSpPr/>
          <p:nvPr/>
        </p:nvSpPr>
        <p:spPr>
          <a:xfrm>
            <a:off x="6527800" y="2921000"/>
            <a:ext cx="1498600" cy="2286000"/>
          </a:xfrm>
          <a:prstGeom prst="roundRect">
            <a:avLst>
              <a:gd name="adj" fmla="val 6779"/>
            </a:avLst>
          </a:prstGeom>
          <a:solidFill>
            <a:srgbClr val="F0FC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6591300" y="3175000"/>
            <a:ext cx="1371600" cy="177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200" b="1" i="0" u="none" strike="noStrike">
                <a:solidFill>
                  <a:srgbClr val="00C2B4"/>
                </a:solidFill>
                <a:latin typeface="Noto Sans SC" panose="020B0200000000000000" charset="-122"/>
                <a:ea typeface="Noto Sans SC" panose="020B0200000000000000" charset="-122"/>
                <a:cs typeface="Noto Sans SC" panose="020B0200000000000000" charset="-122"/>
                <a:sym typeface="Noto Sans SC" panose="020B0200000000000000" charset="-122"/>
              </a:rPr>
              <a:t>&lt; 2</a:t>
            </a: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秒</a:t>
            </a:r>
            <a:endParaRPr lang="en-US" sz="1100"/>
          </a:p>
          <a:p>
            <a:pPr indent="0" algn="ctr">
              <a:lnSpc>
                <a:spcPct val="125000"/>
              </a:lnSpc>
              <a:spcBef>
                <a:spcPts val="1000"/>
              </a:spcBef>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平均响应时间</a:t>
            </a:r>
            <a:endPar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spcBef>
                <a:spcPts val="1200"/>
              </a:spcBef>
            </a:pPr>
            <a:r>
              <a:rPr lang="en-US" sz="1200" b="0" i="0" u="none" strike="noStrike">
                <a:solidFill>
                  <a:srgbClr val="71717A"/>
                </a:solidFill>
                <a:latin typeface="Noto Sans SC" panose="020B0200000000000000" charset="-122"/>
                <a:ea typeface="Noto Sans SC" panose="020B0200000000000000" charset="-122"/>
                <a:cs typeface="Noto Sans SC" panose="020B0200000000000000" charset="-122"/>
                <a:sym typeface="Noto Sans SC" panose="020B0200000000000000" charset="-122"/>
              </a:rPr>
              <a:t>从用户提问到系统</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71717A"/>
                </a:solidFill>
                <a:latin typeface="Noto Sans SC" panose="020B0200000000000000" charset="-122"/>
                <a:ea typeface="Noto Sans SC" panose="020B0200000000000000" charset="-122"/>
                <a:cs typeface="Noto Sans SC" panose="020B0200000000000000" charset="-122"/>
                <a:sym typeface="Noto Sans SC" panose="020B0200000000000000" charset="-122"/>
              </a:rPr>
              <a:t>返回回答耗时</a:t>
            </a:r>
            <a:endParaRPr lang="en-US" sz="1200" b="0" i="0" u="none" strike="noStrike">
              <a:solidFill>
                <a:srgbClr val="71717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nvSpPr>
        <p:spPr>
          <a:xfrm>
            <a:off x="8140700" y="2921000"/>
            <a:ext cx="1498600" cy="2286000"/>
          </a:xfrm>
          <a:prstGeom prst="roundRect">
            <a:avLst>
              <a:gd name="adj" fmla="val 6779"/>
            </a:avLst>
          </a:prstGeom>
          <a:solidFill>
            <a:srgbClr val="F0FC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8204200" y="3175000"/>
            <a:ext cx="1371600" cy="177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200" b="1" i="0" u="none" strike="noStrike">
                <a:solidFill>
                  <a:srgbClr val="00C2B4"/>
                </a:solidFill>
                <a:latin typeface="Noto Sans SC" panose="020B0200000000000000" charset="-122"/>
                <a:ea typeface="Noto Sans SC" panose="020B0200000000000000" charset="-122"/>
                <a:cs typeface="Noto Sans SC" panose="020B0200000000000000" charset="-122"/>
                <a:sym typeface="Noto Sans SC" panose="020B0200000000000000" charset="-122"/>
              </a:rPr>
              <a:t>&gt; 50</a:t>
            </a: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a:t>
            </a:r>
            <a:endParaRPr lang="en-US" sz="1100"/>
          </a:p>
          <a:p>
            <a:pPr indent="0" algn="ctr">
              <a:lnSpc>
                <a:spcPct val="125000"/>
              </a:lnSpc>
              <a:spcBef>
                <a:spcPts val="1000"/>
              </a:spcBef>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并发处理能力</a:t>
            </a:r>
            <a:endPar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spcBef>
                <a:spcPts val="1200"/>
              </a:spcBef>
            </a:pPr>
            <a:r>
              <a:rPr lang="en-US" sz="1200" b="0" i="0" u="none" strike="noStrike">
                <a:solidFill>
                  <a:srgbClr val="71717A"/>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支持多用户同时在线</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71717A"/>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系统保持稳定运行</a:t>
            </a:r>
            <a:endParaRPr lang="en-US" sz="1200" b="0" i="0" u="none" strike="noStrike">
              <a:solidFill>
                <a:srgbClr val="71717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AutoShape 16"/>
          <p:cNvSpPr/>
          <p:nvPr/>
        </p:nvSpPr>
        <p:spPr>
          <a:xfrm>
            <a:off x="9753600" y="2921000"/>
            <a:ext cx="1498600" cy="2286000"/>
          </a:xfrm>
          <a:prstGeom prst="roundRect">
            <a:avLst>
              <a:gd name="adj" fmla="val 6779"/>
            </a:avLst>
          </a:prstGeom>
          <a:solidFill>
            <a:srgbClr val="F0FC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9817100" y="3175000"/>
            <a:ext cx="1371600" cy="177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200" b="1" i="0" u="none" strike="noStrike">
                <a:solidFill>
                  <a:srgbClr val="00C2B4"/>
                </a:solidFill>
                <a:latin typeface="Noto Sans SC" panose="020B0200000000000000" charset="-122"/>
                <a:ea typeface="Noto Sans SC" panose="020B0200000000000000" charset="-122"/>
                <a:cs typeface="Noto Sans SC" panose="020B0200000000000000" charset="-122"/>
                <a:sym typeface="Noto Sans SC" panose="020B0200000000000000" charset="-122"/>
              </a:rPr>
              <a:t>&lt; 512</a:t>
            </a: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MB</a:t>
            </a:r>
            <a:endParaRPr lang="en-US" sz="1100"/>
          </a:p>
          <a:p>
            <a:pPr indent="0" algn="ctr">
              <a:lnSpc>
                <a:spcPct val="125000"/>
              </a:lnSpc>
              <a:spcBef>
                <a:spcPts val="1000"/>
              </a:spcBef>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单会话内存占用</a:t>
            </a:r>
            <a:endPar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spcBef>
                <a:spcPts val="1200"/>
              </a:spcBef>
            </a:pPr>
            <a:r>
              <a:rPr lang="en-US" sz="1200" b="0" i="0" u="none" strike="noStrike">
                <a:solidFill>
                  <a:srgbClr val="71717A"/>
                </a:solidFill>
                <a:latin typeface="Noto Sans SC" panose="020B0200000000000000" charset="-122"/>
                <a:ea typeface="Noto Sans SC" panose="020B0200000000000000" charset="-122"/>
                <a:cs typeface="Noto Sans SC" panose="020B0200000000000000" charset="-122"/>
                <a:sym typeface="Noto Sans SC" panose="020B0200000000000000" charset="-122"/>
              </a:rPr>
              <a:t>轻量级运行模式</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71717A"/>
                </a:solidFill>
                <a:latin typeface="Noto Sans SC" panose="020B0200000000000000" charset="-122"/>
                <a:ea typeface="Noto Sans SC" panose="020B0200000000000000" charset="-122"/>
                <a:cs typeface="Noto Sans SC" panose="020B0200000000000000" charset="-122"/>
                <a:sym typeface="Noto Sans SC" panose="020B0200000000000000" charset="-122"/>
              </a:rPr>
              <a:t>低资源消耗表现</a:t>
            </a:r>
            <a:endParaRPr lang="en-US" sz="1200" b="0" i="0" u="none" strike="noStrike">
              <a:solidFill>
                <a:srgbClr val="71717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8" name="AutoShape 18"/>
          <p:cNvSpPr/>
          <p:nvPr/>
        </p:nvSpPr>
        <p:spPr>
          <a:xfrm>
            <a:off x="6527800" y="5461000"/>
            <a:ext cx="47244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0" i="0" u="none" strike="noStrike">
                <a:solidFill>
                  <a:srgbClr val="52525B"/>
                </a:solidFill>
                <a:latin typeface="Noto Sans SC" panose="020B0200000000000000" charset="-122"/>
                <a:ea typeface="Noto Sans SC" panose="020B0200000000000000" charset="-122"/>
                <a:cs typeface="Noto Sans SC" panose="020B0200000000000000" charset="-122"/>
                <a:sym typeface="Noto Sans SC" panose="020B0200000000000000" charset="-122"/>
              </a:rPr>
              <a:t> 以上数据均基于标准服务器配置与真实业务场景实测</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a:t>
            </a:r>
            <a:r>
              <a:rPr lang="en-US" sz="32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5 主要</a:t>
            </a:r>
            <a:r>
              <a:rPr lang="zh-CN" altLang="en-US" sz="32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亮</a:t>
            </a:r>
            <a:r>
              <a:rPr lang="en-US" sz="32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点与贡献</a:t>
            </a:r>
            <a:endParaRPr lang="en-US" sz="32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 name="AutoShape 4"/>
          <p:cNvSpPr/>
          <p:nvPr>
            <p:custDataLst>
              <p:tags r:id="rId1"/>
            </p:custDataLst>
          </p:nvPr>
        </p:nvSpPr>
        <p:spPr>
          <a:xfrm>
            <a:off x="762000" y="1778000"/>
            <a:ext cx="5207000" cy="2222500"/>
          </a:xfrm>
          <a:prstGeom prst="roundRect">
            <a:avLst>
              <a:gd name="adj" fmla="val 6857"/>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5" name="AutoShape 5"/>
          <p:cNvSpPr/>
          <p:nvPr>
            <p:custDataLst>
              <p:tags r:id="rId2"/>
            </p:custDataLst>
          </p:nvPr>
        </p:nvSpPr>
        <p:spPr>
          <a:xfrm>
            <a:off x="762000" y="1778000"/>
            <a:ext cx="101600" cy="2222500"/>
          </a:xfrm>
          <a:prstGeom prst="roundRect">
            <a:avLst>
              <a:gd name="adj" fmla="val 0"/>
            </a:avLst>
          </a:prstGeom>
          <a:solidFill>
            <a:srgbClr val="00C2B4">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custDataLst>
              <p:tags r:id="rId3"/>
            </p:custDataLst>
          </p:nvPr>
        </p:nvSpPr>
        <p:spPr>
          <a:xfrm>
            <a:off x="1079500" y="1968500"/>
            <a:ext cx="762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C2B4"/>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7" name="AutoShape 7"/>
          <p:cNvSpPr/>
          <p:nvPr>
            <p:custDataLst>
              <p:tags r:id="rId4"/>
            </p:custDataLst>
          </p:nvPr>
        </p:nvSpPr>
        <p:spPr>
          <a:xfrm>
            <a:off x="1968500" y="2032000"/>
            <a:ext cx="3683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系统化的“检测-提问-整合-生成”闭环机制</a:t>
            </a:r>
            <a:endParaRPr lang="en-US" sz="1100"/>
          </a:p>
        </p:txBody>
      </p:sp>
      <p:sp>
        <p:nvSpPr>
          <p:cNvPr id="8" name="AutoShape 8"/>
          <p:cNvSpPr/>
          <p:nvPr>
            <p:custDataLst>
              <p:tags r:id="rId5"/>
            </p:custDataLst>
          </p:nvPr>
        </p:nvSpPr>
        <p:spPr>
          <a:xfrm>
            <a:off x="1079500" y="2794000"/>
            <a:ext cx="4635500" cy="10795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超越了简单的“单次提示”模式，实现了系统级的“人在回路”协同，为解决复杂需求提供了完整框架。</a:t>
            </a:r>
            <a:endParaRPr lang="en-US" sz="1100"/>
          </a:p>
        </p:txBody>
      </p:sp>
      <p:sp>
        <p:nvSpPr>
          <p:cNvPr id="9" name="AutoShape 9"/>
          <p:cNvSpPr/>
          <p:nvPr>
            <p:custDataLst>
              <p:tags r:id="rId6"/>
            </p:custDataLst>
          </p:nvPr>
        </p:nvSpPr>
        <p:spPr>
          <a:xfrm>
            <a:off x="6223000" y="1778000"/>
            <a:ext cx="5207000" cy="2222500"/>
          </a:xfrm>
          <a:prstGeom prst="roundRect">
            <a:avLst>
              <a:gd name="adj" fmla="val 6857"/>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0" name="AutoShape 10"/>
          <p:cNvSpPr/>
          <p:nvPr>
            <p:custDataLst>
              <p:tags r:id="rId7"/>
            </p:custDataLst>
          </p:nvPr>
        </p:nvSpPr>
        <p:spPr>
          <a:xfrm>
            <a:off x="6223000" y="1778000"/>
            <a:ext cx="101600" cy="2222500"/>
          </a:xfrm>
          <a:prstGeom prst="roundRect">
            <a:avLst>
              <a:gd name="adj" fmla="val 0"/>
            </a:avLst>
          </a:prstGeom>
          <a:solidFill>
            <a:srgbClr val="00C2B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custDataLst>
              <p:tags r:id="rId8"/>
            </p:custDataLst>
          </p:nvPr>
        </p:nvSpPr>
        <p:spPr>
          <a:xfrm>
            <a:off x="6540500" y="1968500"/>
            <a:ext cx="762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C2B4"/>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12" name="AutoShape 12"/>
          <p:cNvSpPr/>
          <p:nvPr>
            <p:custDataLst>
              <p:tags r:id="rId9"/>
            </p:custDataLst>
          </p:nvPr>
        </p:nvSpPr>
        <p:spPr>
          <a:xfrm>
            <a:off x="7429500" y="2032000"/>
            <a:ext cx="3683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基于多智能体与有限状态机的架构</a:t>
            </a:r>
            <a:endParaRPr lang="en-US" sz="1100"/>
          </a:p>
        </p:txBody>
      </p:sp>
      <p:sp>
        <p:nvSpPr>
          <p:cNvPr id="13" name="AutoShape 13"/>
          <p:cNvSpPr/>
          <p:nvPr>
            <p:custDataLst>
              <p:tags r:id="rId10"/>
            </p:custDataLst>
          </p:nvPr>
        </p:nvSpPr>
        <p:spPr>
          <a:xfrm>
            <a:off x="6540500" y="2794000"/>
            <a:ext cx="4635500" cy="10795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通过专业化智能体分工和FSM状态管理，有效解决了复杂人机对话流程的控制难题，并引入回滚机制保证了数据一致性。</a:t>
            </a:r>
            <a:endParaRPr lang="en-US" sz="1100"/>
          </a:p>
        </p:txBody>
      </p:sp>
      <p:sp>
        <p:nvSpPr>
          <p:cNvPr id="14" name="AutoShape 14"/>
          <p:cNvSpPr/>
          <p:nvPr>
            <p:custDataLst>
              <p:tags r:id="rId11"/>
            </p:custDataLst>
          </p:nvPr>
        </p:nvSpPr>
        <p:spPr>
          <a:xfrm>
            <a:off x="762000" y="4191000"/>
            <a:ext cx="5207000" cy="2222500"/>
          </a:xfrm>
          <a:prstGeom prst="roundRect">
            <a:avLst>
              <a:gd name="adj" fmla="val 6857"/>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5" name="AutoShape 15"/>
          <p:cNvSpPr/>
          <p:nvPr>
            <p:custDataLst>
              <p:tags r:id="rId12"/>
            </p:custDataLst>
          </p:nvPr>
        </p:nvSpPr>
        <p:spPr>
          <a:xfrm>
            <a:off x="762000" y="4191000"/>
            <a:ext cx="101600" cy="2222500"/>
          </a:xfrm>
          <a:prstGeom prst="roundRect">
            <a:avLst>
              <a:gd name="adj" fmla="val 0"/>
            </a:avLst>
          </a:prstGeom>
          <a:solidFill>
            <a:srgbClr val="00C2B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custDataLst>
              <p:tags r:id="rId13"/>
            </p:custDataLst>
          </p:nvPr>
        </p:nvSpPr>
        <p:spPr>
          <a:xfrm>
            <a:off x="1079500" y="4381500"/>
            <a:ext cx="762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C2B4"/>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17" name="AutoShape 17"/>
          <p:cNvSpPr/>
          <p:nvPr>
            <p:custDataLst>
              <p:tags r:id="rId14"/>
            </p:custDataLst>
          </p:nvPr>
        </p:nvSpPr>
        <p:spPr>
          <a:xfrm>
            <a:off x="1968500" y="4445000"/>
            <a:ext cx="3683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融合多种提示策略的模块化设计</a:t>
            </a:r>
            <a:endParaRPr lang="en-US" sz="1100"/>
          </a:p>
        </p:txBody>
      </p:sp>
      <p:sp>
        <p:nvSpPr>
          <p:cNvPr id="18" name="AutoShape 18"/>
          <p:cNvSpPr/>
          <p:nvPr>
            <p:custDataLst>
              <p:tags r:id="rId15"/>
            </p:custDataLst>
          </p:nvPr>
        </p:nvSpPr>
        <p:spPr>
          <a:xfrm>
            <a:off x="1079500" y="5207000"/>
            <a:ext cx="4635500" cy="10795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针对需求分析的不同阶段，设计了专用的提示策略（如两阶段模糊检测），精细化地挖掘和利用了大语言模型的潜力。</a:t>
            </a:r>
            <a:endParaRPr lang="en-US" sz="1100"/>
          </a:p>
        </p:txBody>
      </p:sp>
      <p:sp>
        <p:nvSpPr>
          <p:cNvPr id="19" name="AutoShape 19"/>
          <p:cNvSpPr/>
          <p:nvPr>
            <p:custDataLst>
              <p:tags r:id="rId16"/>
            </p:custDataLst>
          </p:nvPr>
        </p:nvSpPr>
        <p:spPr>
          <a:xfrm>
            <a:off x="6223000" y="4191000"/>
            <a:ext cx="5207000" cy="2222500"/>
          </a:xfrm>
          <a:prstGeom prst="roundRect">
            <a:avLst>
              <a:gd name="adj" fmla="val 6857"/>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20" name="AutoShape 20"/>
          <p:cNvSpPr/>
          <p:nvPr>
            <p:custDataLst>
              <p:tags r:id="rId17"/>
            </p:custDataLst>
          </p:nvPr>
        </p:nvSpPr>
        <p:spPr>
          <a:xfrm>
            <a:off x="6223000" y="4191000"/>
            <a:ext cx="101600" cy="2222500"/>
          </a:xfrm>
          <a:prstGeom prst="roundRect">
            <a:avLst>
              <a:gd name="adj" fmla="val 0"/>
            </a:avLst>
          </a:prstGeom>
          <a:solidFill>
            <a:srgbClr val="00C2B4">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custDataLst>
              <p:tags r:id="rId18"/>
            </p:custDataLst>
          </p:nvPr>
        </p:nvSpPr>
        <p:spPr>
          <a:xfrm>
            <a:off x="6540500" y="4381500"/>
            <a:ext cx="762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C2B4"/>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sp>
        <p:nvSpPr>
          <p:cNvPr id="22" name="AutoShape 22"/>
          <p:cNvSpPr/>
          <p:nvPr>
            <p:custDataLst>
              <p:tags r:id="rId19"/>
            </p:custDataLst>
          </p:nvPr>
        </p:nvSpPr>
        <p:spPr>
          <a:xfrm>
            <a:off x="7429500" y="4445000"/>
            <a:ext cx="3683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实证有效性验证</a:t>
            </a:r>
            <a:endParaRPr lang="en-US" sz="1100"/>
          </a:p>
        </p:txBody>
      </p:sp>
      <p:sp>
        <p:nvSpPr>
          <p:cNvPr id="23" name="AutoShape 23"/>
          <p:cNvSpPr/>
          <p:nvPr>
            <p:custDataLst>
              <p:tags r:id="rId20"/>
            </p:custDataLst>
          </p:nvPr>
        </p:nvSpPr>
        <p:spPr>
          <a:xfrm>
            <a:off x="6540500" y="5207000"/>
            <a:ext cx="4635500" cy="10795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通过严谨的对比实验，首次量化证明了交互式需求澄清机制对代码生成质量具有显著的提升效果，为该领域的研究提供了实证依据。</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05 不足与未来</a:t>
            </a: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展望</a:t>
            </a:r>
            <a:endParaRPr lang="en-US" sz="1100"/>
          </a:p>
        </p:txBody>
      </p:sp>
      <p:sp>
        <p:nvSpPr>
          <p:cNvPr id="4" name="AutoShape 4"/>
          <p:cNvSpPr/>
          <p:nvPr/>
        </p:nvSpPr>
        <p:spPr>
          <a:xfrm>
            <a:off x="762000" y="1778000"/>
            <a:ext cx="5207000" cy="4445000"/>
          </a:xfrm>
          <a:prstGeom prst="roundRect">
            <a:avLst>
              <a:gd name="adj" fmla="val 3428"/>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5" name="AutoShape 5"/>
          <p:cNvSpPr/>
          <p:nvPr/>
        </p:nvSpPr>
        <p:spPr>
          <a:xfrm>
            <a:off x="1016000" y="2032000"/>
            <a:ext cx="469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00C2B4"/>
                </a:solidFill>
                <a:latin typeface="Noto Sans SC" panose="020B0200000000000000" charset="-122"/>
                <a:ea typeface="Noto Sans SC" panose="020B0200000000000000" charset="-122"/>
                <a:cs typeface="Noto Sans SC" panose="020B0200000000000000" charset="-122"/>
                <a:sym typeface="Noto Sans SC" panose="020B0200000000000000" charset="-122"/>
              </a:rPr>
              <a:t>现有不足 / LIMITATIONS</a:t>
            </a:r>
            <a:endParaRPr lang="en-US" sz="1100"/>
          </a:p>
        </p:txBody>
      </p:sp>
      <p:sp>
        <p:nvSpPr>
          <p:cNvPr id="6" name="AutoShape 6"/>
          <p:cNvSpPr/>
          <p:nvPr/>
        </p:nvSpPr>
        <p:spPr>
          <a:xfrm>
            <a:off x="1016000" y="2667000"/>
            <a:ext cx="508000" cy="38100"/>
          </a:xfrm>
          <a:prstGeom prst="roundRect">
            <a:avLst>
              <a:gd name="adj" fmla="val 0"/>
            </a:avLst>
          </a:prstGeom>
          <a:solidFill>
            <a:srgbClr val="00C2B4">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3048000"/>
            <a:ext cx="355600" cy="355600"/>
          </a:xfrm>
          <a:prstGeom prst="rect">
            <a:avLst/>
          </a:prstGeom>
        </p:spPr>
      </p:pic>
      <p:sp>
        <p:nvSpPr>
          <p:cNvPr id="8" name="AutoShape 8"/>
          <p:cNvSpPr/>
          <p:nvPr/>
        </p:nvSpPr>
        <p:spPr>
          <a:xfrm>
            <a:off x="1524000" y="3022600"/>
            <a:ext cx="4191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数据集规模较小</a:t>
            </a:r>
            <a:endParaRPr lang="en-US" sz="1100"/>
          </a:p>
          <a:p>
            <a:pPr indent="0" algn="l">
              <a:lnSpc>
                <a:spcPct val="108000"/>
              </a:lnSpc>
            </a:pPr>
            <a:r>
              <a:rPr lang="en-US" sz="1200" b="0" i="0" u="none" strike="noStrike">
                <a:solidFill>
                  <a:srgbClr val="606266"/>
                </a:solidFill>
                <a:latin typeface="Noto Sans SC" panose="020B0200000000000000" charset="-122"/>
                <a:ea typeface="Noto Sans SC" panose="020B0200000000000000" charset="-122"/>
                <a:cs typeface="Noto Sans SC" panose="020B0200000000000000" charset="-122"/>
                <a:sym typeface="Noto Sans SC" panose="020B0200000000000000" charset="-122"/>
              </a:rPr>
              <a:t>目前的实验仅基于10个需求案例，样本量较少，导致实验结果的普适性与稳定性有待在更大规模的真实数据集上验证。</a:t>
            </a:r>
            <a:endParaRPr lang="en-US" sz="1200" b="0" i="0" u="none" strike="noStrike">
              <a:solidFill>
                <a:srgbClr val="6062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4699000"/>
            <a:ext cx="355600" cy="355600"/>
          </a:xfrm>
          <a:prstGeom prst="rect">
            <a:avLst/>
          </a:prstGeom>
        </p:spPr>
      </p:pic>
      <p:sp>
        <p:nvSpPr>
          <p:cNvPr id="10" name="AutoShape 10"/>
          <p:cNvSpPr/>
          <p:nvPr/>
        </p:nvSpPr>
        <p:spPr>
          <a:xfrm>
            <a:off x="1524000" y="4673600"/>
            <a:ext cx="4191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经验学习能力较弱</a:t>
            </a:r>
            <a:endParaRPr lang="en-US" sz="1100"/>
          </a:p>
          <a:p>
            <a:pPr indent="0" algn="l">
              <a:lnSpc>
                <a:spcPct val="108000"/>
              </a:lnSpc>
            </a:pPr>
            <a:r>
              <a:rPr lang="en-US" sz="1200" b="0" i="0" u="none" strike="noStrike">
                <a:solidFill>
                  <a:srgbClr val="606266"/>
                </a:solidFill>
                <a:latin typeface="Noto Sans SC" panose="020B0200000000000000" charset="-122"/>
                <a:ea typeface="Noto Sans SC" panose="020B0200000000000000" charset="-122"/>
                <a:cs typeface="Noto Sans SC" panose="020B0200000000000000" charset="-122"/>
                <a:sym typeface="Noto Sans SC" panose="020B0200000000000000" charset="-122"/>
              </a:rPr>
              <a:t>当前历史经验复用依赖简单的关键词匹配逻辑，缺乏深度的语义理解能力，难以处理需求描述中的同义表述与模糊信息。</a:t>
            </a:r>
            <a:endParaRPr lang="en-US" sz="1200" b="0" i="0" u="none" strike="noStrike">
              <a:solidFill>
                <a:srgbClr val="6062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6223000" y="1778000"/>
            <a:ext cx="5207000" cy="4445000"/>
          </a:xfrm>
          <a:prstGeom prst="roundRect">
            <a:avLst>
              <a:gd name="adj" fmla="val 3428"/>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4" name="AutoShape 14"/>
          <p:cNvSpPr/>
          <p:nvPr/>
        </p:nvSpPr>
        <p:spPr>
          <a:xfrm>
            <a:off x="6477000" y="2032000"/>
            <a:ext cx="469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00C2B4"/>
                </a:solidFill>
                <a:latin typeface="Noto Sans SC" panose="020B0200000000000000" charset="-122"/>
                <a:ea typeface="Noto Sans SC" panose="020B0200000000000000" charset="-122"/>
                <a:cs typeface="Noto Sans SC" panose="020B0200000000000000" charset="-122"/>
                <a:sym typeface="Noto Sans SC" panose="020B0200000000000000" charset="-122"/>
              </a:rPr>
              <a:t>未来展望 / FUTURE WORK</a:t>
            </a:r>
            <a:endParaRPr lang="en-US" sz="1100"/>
          </a:p>
        </p:txBody>
      </p:sp>
      <p:sp>
        <p:nvSpPr>
          <p:cNvPr id="15" name="AutoShape 15"/>
          <p:cNvSpPr/>
          <p:nvPr/>
        </p:nvSpPr>
        <p:spPr>
          <a:xfrm>
            <a:off x="6477000" y="2667000"/>
            <a:ext cx="508000" cy="38100"/>
          </a:xfrm>
          <a:prstGeom prst="roundRect">
            <a:avLst>
              <a:gd name="adj" fmla="val 0"/>
            </a:avLst>
          </a:prstGeom>
          <a:solidFill>
            <a:srgbClr val="00C2B4">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77000" y="3048000"/>
            <a:ext cx="304800" cy="304800"/>
          </a:xfrm>
          <a:prstGeom prst="rect">
            <a:avLst/>
          </a:prstGeom>
        </p:spPr>
      </p:pic>
      <p:sp>
        <p:nvSpPr>
          <p:cNvPr id="17" name="AutoShape 17"/>
          <p:cNvSpPr/>
          <p:nvPr/>
        </p:nvSpPr>
        <p:spPr>
          <a:xfrm>
            <a:off x="6985000" y="3022600"/>
            <a:ext cx="419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更智能的经验学习引擎</a:t>
            </a:r>
            <a:endParaRPr lang="en-US" sz="1100"/>
          </a:p>
          <a:p>
            <a:pPr indent="0" algn="l">
              <a:lnSpc>
                <a:spcPct val="100000"/>
              </a:lnSpc>
            </a:pPr>
            <a:r>
              <a:rPr lang="en-US" sz="1100" b="0" i="0" u="none" strike="noStrike">
                <a:solidFill>
                  <a:srgbClr val="606266"/>
                </a:solidFill>
                <a:latin typeface="Noto Sans SC" panose="020B0200000000000000" charset="-122"/>
                <a:ea typeface="Noto Sans SC" panose="020B0200000000000000" charset="-122"/>
                <a:cs typeface="Noto Sans SC" panose="020B0200000000000000" charset="-122"/>
                <a:sym typeface="Noto Sans SC" panose="020B0200000000000000" charset="-122"/>
              </a:rPr>
              <a:t>引入向量数据库与LLM嵌入技术，实现基于语义相似度的案例检索与知识迁移，提升经验复用的准确度。</a:t>
            </a:r>
            <a:endParaRPr lang="en-US" sz="1100" b="0" i="0" u="none" strike="noStrike">
              <a:solidFill>
                <a:srgbClr val="6062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8" name="Picture 18"/>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77000" y="3937000"/>
            <a:ext cx="304800" cy="304800"/>
          </a:xfrm>
          <a:prstGeom prst="rect">
            <a:avLst/>
          </a:prstGeom>
        </p:spPr>
      </p:pic>
      <p:sp>
        <p:nvSpPr>
          <p:cNvPr id="19" name="AutoShape 19"/>
          <p:cNvSpPr/>
          <p:nvPr/>
        </p:nvSpPr>
        <p:spPr>
          <a:xfrm>
            <a:off x="6985000" y="3911600"/>
            <a:ext cx="419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基于强化学习的自适应交互</a:t>
            </a:r>
            <a:endParaRPr lang="en-US" sz="1100"/>
          </a:p>
          <a:p>
            <a:pPr indent="0" algn="l">
              <a:lnSpc>
                <a:spcPct val="100000"/>
              </a:lnSpc>
            </a:pPr>
            <a:r>
              <a:rPr lang="en-US" sz="1100" b="0" i="0" u="none" strike="noStrike">
                <a:solidFill>
                  <a:srgbClr val="606266"/>
                </a:solidFill>
                <a:latin typeface="Noto Sans SC" panose="020B0200000000000000" charset="-122"/>
                <a:ea typeface="Noto Sans SC" panose="020B0200000000000000" charset="-122"/>
                <a:cs typeface="Noto Sans SC" panose="020B0200000000000000" charset="-122"/>
                <a:sym typeface="Noto Sans SC" panose="020B0200000000000000" charset="-122"/>
              </a:rPr>
              <a:t>引入 UserRL 框架训练智能体，使其在交互中自主学习最优提问策略，动态适应不同用户类型与对话语境。</a:t>
            </a:r>
            <a:endParaRPr lang="en-US" sz="1100" b="0" i="0" u="none" strike="noStrike">
              <a:solidFill>
                <a:srgbClr val="6062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0" name="Picture 20"/>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477000" y="4826000"/>
            <a:ext cx="304800" cy="304800"/>
          </a:xfrm>
          <a:prstGeom prst="rect">
            <a:avLst/>
          </a:prstGeom>
        </p:spPr>
      </p:pic>
      <p:sp>
        <p:nvSpPr>
          <p:cNvPr id="21" name="AutoShape 21"/>
          <p:cNvSpPr/>
          <p:nvPr/>
        </p:nvSpPr>
        <p:spPr>
          <a:xfrm>
            <a:off x="6985000" y="4800600"/>
            <a:ext cx="20955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多模态需求支持</a:t>
            </a:r>
            <a:endParaRPr lang="en-US" sz="1100"/>
          </a:p>
          <a:p>
            <a:pPr indent="0" algn="l">
              <a:lnSpc>
                <a:spcPct val="100000"/>
              </a:lnSpc>
            </a:pPr>
            <a:r>
              <a:rPr lang="en-US" sz="1100" b="0" i="0" u="none" strike="noStrike">
                <a:solidFill>
                  <a:srgbClr val="606266"/>
                </a:solidFill>
                <a:latin typeface="Noto Sans SC" panose="020B0200000000000000" charset="-122"/>
                <a:ea typeface="Noto Sans SC" panose="020B0200000000000000" charset="-122"/>
                <a:cs typeface="Noto Sans SC" panose="020B0200000000000000" charset="-122"/>
                <a:sym typeface="Noto Sans SC" panose="020B0200000000000000" charset="-122"/>
              </a:rPr>
              <a:t>扩展输入维度，支持UML图、界面草图及流程图等非文本形式的需求表达。</a:t>
            </a:r>
            <a:endParaRPr lang="en-US" sz="1100" b="0" i="0" u="none" strike="noStrike">
              <a:solidFill>
                <a:srgbClr val="6062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p:cNvPicPr>
            <a:picLocks noChangeAspect="1"/>
          </p:cNvPicPr>
          <p:nvPr/>
        </p:nvPicPr>
        <p:blipFill>
          <a:blip r:embed="rId1" cstate="screen">
            <a:duotone>
              <a:schemeClr val="accent2">
                <a:shade val="45000"/>
                <a:satMod val="135000"/>
              </a:schemeClr>
              <a:prstClr val="white"/>
            </a:duotone>
          </a:blip>
          <a:stretch>
            <a:fillRect/>
          </a:stretch>
        </p:blipFill>
        <p:spPr>
          <a:xfrm>
            <a:off x="-1" y="0"/>
            <a:ext cx="12192001" cy="6858000"/>
          </a:xfrm>
          <a:prstGeom prst="rect">
            <a:avLst/>
          </a:prstGeom>
        </p:spPr>
      </p:pic>
      <p:pic>
        <p:nvPicPr>
          <p:cNvPr id="3" name="图片 2"/>
          <p:cNvPicPr>
            <a:picLocks noChangeAspect="1"/>
          </p:cNvPicPr>
          <p:nvPr/>
        </p:nvPicPr>
        <p:blipFill rotWithShape="1">
          <a:blip r:embed="rId2" cstate="screen"/>
          <a:srcRect/>
          <a:stretch>
            <a:fillRect/>
          </a:stretch>
        </p:blipFill>
        <p:spPr>
          <a:xfrm rot="16200000" flipV="1">
            <a:off x="1248382" y="-1248382"/>
            <a:ext cx="1863569" cy="4360333"/>
          </a:xfrm>
          <a:prstGeom prst="rect">
            <a:avLst/>
          </a:prstGeom>
        </p:spPr>
      </p:pic>
      <p:pic>
        <p:nvPicPr>
          <p:cNvPr id="4" name="图片 3"/>
          <p:cNvPicPr>
            <a:picLocks noChangeAspect="1"/>
          </p:cNvPicPr>
          <p:nvPr/>
        </p:nvPicPr>
        <p:blipFill rotWithShape="1">
          <a:blip r:embed="rId3" cstate="screen"/>
          <a:srcRect/>
          <a:stretch>
            <a:fillRect/>
          </a:stretch>
        </p:blipFill>
        <p:spPr>
          <a:xfrm rot="16200000">
            <a:off x="9599120" y="4283175"/>
            <a:ext cx="3929435" cy="1244600"/>
          </a:xfrm>
          <a:prstGeom prst="rect">
            <a:avLst/>
          </a:prstGeom>
        </p:spPr>
      </p:pic>
      <p:pic>
        <p:nvPicPr>
          <p:cNvPr id="7" name="图片 6"/>
          <p:cNvPicPr>
            <a:picLocks noChangeAspect="1"/>
          </p:cNvPicPr>
          <p:nvPr/>
        </p:nvPicPr>
        <p:blipFill rotWithShape="1">
          <a:blip r:embed="rId4" cstate="screen"/>
          <a:srcRect/>
          <a:stretch>
            <a:fillRect/>
          </a:stretch>
        </p:blipFill>
        <p:spPr>
          <a:xfrm flipV="1">
            <a:off x="3925" y="4909422"/>
            <a:ext cx="6400800" cy="1960771"/>
          </a:xfrm>
          <a:prstGeom prst="rect">
            <a:avLst/>
          </a:prstGeom>
        </p:spPr>
      </p:pic>
      <p:pic>
        <p:nvPicPr>
          <p:cNvPr id="5" name="图片 4"/>
          <p:cNvPicPr>
            <a:picLocks noChangeAspect="1"/>
          </p:cNvPicPr>
          <p:nvPr/>
        </p:nvPicPr>
        <p:blipFill rotWithShape="1">
          <a:blip r:embed="rId5" cstate="screen"/>
          <a:srcRect/>
          <a:stretch>
            <a:fillRect/>
          </a:stretch>
        </p:blipFill>
        <p:spPr>
          <a:xfrm>
            <a:off x="3034714" y="0"/>
            <a:ext cx="2480733" cy="939800"/>
          </a:xfrm>
          <a:prstGeom prst="rect">
            <a:avLst/>
          </a:prstGeom>
        </p:spPr>
      </p:pic>
      <p:pic>
        <p:nvPicPr>
          <p:cNvPr id="10" name="图片 9"/>
          <p:cNvPicPr>
            <a:picLocks noChangeAspect="1"/>
          </p:cNvPicPr>
          <p:nvPr/>
        </p:nvPicPr>
        <p:blipFill rotWithShape="1">
          <a:blip r:embed="rId6" cstate="screen"/>
          <a:srcRect/>
          <a:stretch>
            <a:fillRect/>
          </a:stretch>
        </p:blipFill>
        <p:spPr>
          <a:xfrm>
            <a:off x="11454498" y="1967825"/>
            <a:ext cx="737502" cy="2116668"/>
          </a:xfrm>
          <a:prstGeom prst="rect">
            <a:avLst/>
          </a:prstGeom>
        </p:spPr>
      </p:pic>
      <p:pic>
        <p:nvPicPr>
          <p:cNvPr id="13" name="图片 12"/>
          <p:cNvPicPr>
            <a:picLocks noChangeAspect="1"/>
          </p:cNvPicPr>
          <p:nvPr/>
        </p:nvPicPr>
        <p:blipFill rotWithShape="1">
          <a:blip r:embed="rId7" cstate="screen"/>
          <a:srcRect/>
          <a:stretch>
            <a:fillRect/>
          </a:stretch>
        </p:blipFill>
        <p:spPr>
          <a:xfrm>
            <a:off x="2613078" y="126262"/>
            <a:ext cx="3080085" cy="1363579"/>
          </a:xfrm>
          <a:prstGeom prst="rect">
            <a:avLst/>
          </a:prstGeom>
        </p:spPr>
      </p:pic>
      <p:pic>
        <p:nvPicPr>
          <p:cNvPr id="16" name="图片 15"/>
          <p:cNvPicPr>
            <a:picLocks noChangeAspect="1"/>
          </p:cNvPicPr>
          <p:nvPr/>
        </p:nvPicPr>
        <p:blipFill rotWithShape="1">
          <a:blip r:embed="rId8" cstate="screen">
            <a:lum bright="70000" contrast="-70000"/>
          </a:blip>
          <a:srcRect/>
          <a:stretch>
            <a:fillRect/>
          </a:stretch>
        </p:blipFill>
        <p:spPr>
          <a:xfrm>
            <a:off x="-114686" y="5426095"/>
            <a:ext cx="9806204" cy="1483895"/>
          </a:xfrm>
          <a:prstGeom prst="rect">
            <a:avLst/>
          </a:prstGeom>
        </p:spPr>
      </p:pic>
      <p:sp>
        <p:nvSpPr>
          <p:cNvPr id="20" name="TextBox 4"/>
          <p:cNvSpPr txBox="1"/>
          <p:nvPr/>
        </p:nvSpPr>
        <p:spPr>
          <a:xfrm>
            <a:off x="0" y="0"/>
            <a:ext cx="453650" cy="123111"/>
          </a:xfrm>
          <a:prstGeom prst="rect">
            <a:avLst/>
          </a:prstGeom>
          <a:noFill/>
        </p:spPr>
        <p:txBody>
          <a:bodyPr wrap="square" rtlCol="0">
            <a:spAutoFit/>
          </a:bodyPr>
          <a:lstStyle/>
          <a:p>
            <a:pPr>
              <a:lnSpc>
                <a:spcPct val="200000"/>
              </a:lnSpc>
            </a:pPr>
            <a:r>
              <a:rPr lang="zh-CN" altLang="en-US" sz="100" dirty="0">
                <a:solidFill>
                  <a:schemeClr val="tx1">
                    <a:alpha val="0"/>
                  </a:schemeClr>
                </a:solidFill>
                <a:cs typeface="+mn-ea"/>
                <a:sym typeface="+mn-lt"/>
              </a:rPr>
              <a:t>行业</a:t>
            </a:r>
            <a:r>
              <a:rPr lang="en-US" altLang="zh-CN" sz="100" dirty="0">
                <a:solidFill>
                  <a:schemeClr val="tx1">
                    <a:alpha val="0"/>
                  </a:schemeClr>
                </a:solidFill>
                <a:cs typeface="+mn-ea"/>
                <a:sym typeface="+mn-lt"/>
              </a:rPr>
              <a:t>PPT</a:t>
            </a:r>
            <a:r>
              <a:rPr lang="zh-CN" altLang="en-US" sz="100" dirty="0">
                <a:solidFill>
                  <a:schemeClr val="tx1">
                    <a:alpha val="0"/>
                  </a:schemeClr>
                </a:solidFill>
                <a:cs typeface="+mn-ea"/>
                <a:sym typeface="+mn-lt"/>
              </a:rPr>
              <a:t>模板</a:t>
            </a:r>
            <a:r>
              <a:rPr lang="en-US" altLang="zh-CN" sz="100" dirty="0">
                <a:solidFill>
                  <a:schemeClr val="tx1">
                    <a:alpha val="0"/>
                  </a:schemeClr>
                </a:solidFill>
                <a:cs typeface="+mn-ea"/>
                <a:sym typeface="+mn-lt"/>
              </a:rPr>
              <a:t>http://www.1ppt.com/hangye/</a:t>
            </a:r>
            <a:endParaRPr lang="en-US" altLang="zh-CN" sz="100" dirty="0">
              <a:solidFill>
                <a:schemeClr val="tx1">
                  <a:alpha val="0"/>
                </a:schemeClr>
              </a:solidFill>
              <a:cs typeface="+mn-ea"/>
              <a:sym typeface="+mn-lt"/>
            </a:endParaRPr>
          </a:p>
        </p:txBody>
      </p:sp>
      <p:sp>
        <p:nvSpPr>
          <p:cNvPr id="2" name="AutoShape 3"/>
          <p:cNvSpPr/>
          <p:nvPr/>
        </p:nvSpPr>
        <p:spPr>
          <a:xfrm>
            <a:off x="0" y="889000"/>
            <a:ext cx="1219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总结与致谢</a:t>
            </a:r>
            <a:endParaRPr lang="en-US" sz="36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AutoShape 4"/>
          <p:cNvSpPr/>
          <p:nvPr/>
        </p:nvSpPr>
        <p:spPr>
          <a:xfrm>
            <a:off x="1016000" y="2159000"/>
            <a:ext cx="10160000" cy="2032000"/>
          </a:xfrm>
          <a:prstGeom prst="roundRect">
            <a:avLst>
              <a:gd name="adj" fmla="val 7500"/>
            </a:avLst>
          </a:prstGeom>
          <a:solidFill>
            <a:schemeClr val="accent5">
              <a:lumMod val="20000"/>
              <a:lumOff val="80000"/>
              <a:alpha val="70000"/>
            </a:schemeClr>
          </a:solidFill>
          <a:ln w="12700" cap="flat" cmpd="sng">
            <a:solidFill>
              <a:srgbClr val="00C2B4">
                <a:alpha val="50000"/>
              </a:srgbClr>
            </a:solidFill>
            <a:prstDash val="solid"/>
            <a:round/>
          </a:ln>
        </p:spPr>
        <p:txBody>
          <a:bodyPr vert="horz" wrap="square" lIns="63500" tIns="63500" rIns="63500" bIns="63500" rtlCol="0" anchor="ctr"/>
          <a:lstStyle/>
          <a:p>
            <a:pPr algn="ctr">
              <a:defRPr/>
            </a:pPr>
          </a:p>
        </p:txBody>
      </p:sp>
      <p:sp>
        <p:nvSpPr>
          <p:cNvPr id="8" name="AutoShape 5"/>
          <p:cNvSpPr/>
          <p:nvPr/>
        </p:nvSpPr>
        <p:spPr>
          <a:xfrm>
            <a:off x="1270000" y="2413000"/>
            <a:ext cx="9652000" cy="1524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2400" b="1" i="0" u="none" strike="noStrike">
                <a:solidFill>
                  <a:srgbClr val="00C2B4"/>
                </a:solidFill>
                <a:latin typeface="Noto Sans SC" panose="020B0200000000000000" charset="-122"/>
                <a:ea typeface="Noto Sans SC" panose="020B0200000000000000" charset="-122"/>
                <a:cs typeface="Noto Sans SC" panose="020B0200000000000000" charset="-122"/>
                <a:sym typeface="Noto Sans SC" panose="020B0200000000000000" charset="-122"/>
              </a:rPr>
              <a:t>▍ 研究总结</a:t>
            </a:r>
            <a:endParaRPr lang="en-US" sz="1100"/>
          </a:p>
          <a:p>
            <a:pPr indent="0" algn="ctr">
              <a:lnSpc>
                <a:spcPct val="117000"/>
              </a:lnSpc>
              <a:spcBef>
                <a:spcPts val="1200"/>
              </a:spcBef>
            </a:pPr>
            <a:r>
              <a:rPr lang="en-US" sz="16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本研究成功设计并实现了一个基于交互式需求澄清的智能代码生成系统。</a:t>
            </a:r>
            <a:endParaRPr lang="en-US" sz="16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17000"/>
              </a:lnSpc>
              <a:spcBef>
                <a:spcPts val="1200"/>
              </a:spcBef>
            </a:pPr>
            <a:r>
              <a:rPr lang="en-US" sz="16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它通过模拟人类需求分析师的工作模式，显著提升了在模糊需求场景下生成代码的准确性和可靠性，</a:t>
            </a:r>
            <a:endParaRPr lang="en-US" sz="16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17000"/>
              </a:lnSpc>
              <a:spcBef>
                <a:spcPts val="1200"/>
              </a:spcBef>
            </a:pPr>
            <a:r>
              <a:rPr lang="en-US" sz="16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为解决AI编程工具中的“语义鸿沟”问题提供了一条可行且有效的技术路径。</a:t>
            </a:r>
            <a:endParaRPr lang="en-US" sz="16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6"/>
          <p:cNvSpPr/>
          <p:nvPr/>
        </p:nvSpPr>
        <p:spPr>
          <a:xfrm>
            <a:off x="1016000" y="4445000"/>
            <a:ext cx="10160000" cy="1651000"/>
          </a:xfrm>
          <a:prstGeom prst="roundRect">
            <a:avLst>
              <a:gd name="adj" fmla="val 9230"/>
            </a:avLst>
          </a:prstGeom>
          <a:solidFill>
            <a:schemeClr val="accent5">
              <a:lumMod val="20000"/>
              <a:lumOff val="80000"/>
              <a:alpha val="70000"/>
            </a:schemeClr>
          </a:solidFill>
          <a:ln w="12700" cap="flat" cmpd="sng">
            <a:solidFill>
              <a:srgbClr val="00C2B4">
                <a:alpha val="50000"/>
              </a:srgbClr>
            </a:solidFill>
            <a:prstDash val="solid"/>
            <a:round/>
          </a:ln>
        </p:spPr>
        <p:txBody>
          <a:bodyPr vert="horz" wrap="square" lIns="63500" tIns="63500" rIns="63500" bIns="63500" rtlCol="0" anchor="ctr"/>
          <a:lstStyle/>
          <a:p>
            <a:pPr algn="ctr">
              <a:defRPr/>
            </a:pPr>
          </a:p>
        </p:txBody>
      </p:sp>
      <p:sp>
        <p:nvSpPr>
          <p:cNvPr id="11" name="AutoShape 7"/>
          <p:cNvSpPr/>
          <p:nvPr/>
        </p:nvSpPr>
        <p:spPr>
          <a:xfrm>
            <a:off x="1270000" y="4699000"/>
            <a:ext cx="9652000" cy="1143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pPr>
            <a:r>
              <a:rPr lang="en-US" sz="24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恳请各位老师批评指正！</a:t>
            </a:r>
            <a:endParaRPr lang="en-US" sz="24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tags/tag1.xml><?xml version="1.0" encoding="utf-8"?>
<p:tagLst xmlns:p="http://schemas.openxmlformats.org/presentationml/2006/main">
  <p:tag name="KSO_WM_DIAGRAM_VIRTUALLY_FRAME" val="{&quot;height&quot;:365,&quot;left&quot;:60,&quot;top&quot;:140,&quot;width&quot;:840}"/>
</p:tagLst>
</file>

<file path=ppt/tags/tag2.xml><?xml version="1.0" encoding="utf-8"?>
<p:tagLst xmlns:p="http://schemas.openxmlformats.org/presentationml/2006/main">
  <p:tag name="KSO_WM_DIAGRAM_VIRTUALLY_FRAME" val="{&quot;height&quot;:365,&quot;left&quot;:60,&quot;top&quot;:140,&quot;width&quot;:840}"/>
</p:tagLst>
</file>

<file path=ppt/tags/tag3.xml><?xml version="1.0" encoding="utf-8"?>
<p:tagLst xmlns:p="http://schemas.openxmlformats.org/presentationml/2006/main">
  <p:tag name="KSO_WM_DIAGRAM_VIRTUALLY_FRAME" val="{&quot;height&quot;:365,&quot;left&quot;:60,&quot;top&quot;:140,&quot;width&quot;:840}"/>
</p:tagLst>
</file>

<file path=ppt/tags/tag4.xml><?xml version="1.0" encoding="utf-8"?>
<p:tagLst xmlns:p="http://schemas.openxmlformats.org/presentationml/2006/main">
  <p:tag name="KSO_WM_DIAGRAM_VIRTUALLY_FRAME" val="{&quot;height&quot;:365,&quot;left&quot;:60,&quot;top&quot;:140,&quot;width&quot;:840}"/>
</p:tagLst>
</file>

<file path=ppt/tags/tag5.xml><?xml version="1.0" encoding="utf-8"?>
<p:tagLst xmlns:p="http://schemas.openxmlformats.org/presentationml/2006/main">
  <p:tag name="KSO_WM_DIAGRAM_VIRTUALLY_FRAME" val="{&quot;height&quot;:365,&quot;left&quot;:60,&quot;top&quot;:140,&quot;width&quot;:840}"/>
</p:tagLst>
</file>

<file path=ppt/tags/tag6.xml><?xml version="1.0" encoding="utf-8"?>
<p:tagLst xmlns:p="http://schemas.openxmlformats.org/presentationml/2006/main">
  <p:tag name="KSO_WM_DIAGRAM_VIRTUALLY_FRAME" val="{&quot;height&quot;:365,&quot;left&quot;:60,&quot;top&quot;:140,&quot;width&quot;:840}"/>
</p:tagLst>
</file>

<file path=ppt/tags/tag7.xml><?xml version="1.0" encoding="utf-8"?>
<p:tagLst xmlns:p="http://schemas.openxmlformats.org/presentationml/2006/main">
  <p:tag name="KSO_WM_DIAGRAM_VIRTUALLY_FRAME" val="{&quot;height&quot;:365,&quot;left&quot;:60,&quot;top&quot;:140,&quot;width&quot;:840}"/>
</p:tagLst>
</file>

<file path=ppt/tags/tag8.xml><?xml version="1.0" encoding="utf-8"?>
<p:tagLst xmlns:p="http://schemas.openxmlformats.org/presentationml/2006/main">
  <p:tag name="KSO_WM_DIAGRAM_VIRTUALLY_FRAME" val="{&quot;height&quot;:365,&quot;left&quot;:60,&quot;top&quot;:140,&quot;width&quot;:840}"/>
</p:tagLst>
</file>

<file path=ppt/tags/tag9.xml><?xml version="1.0" encoding="utf-8"?>
<p:tagLst xmlns:p="http://schemas.openxmlformats.org/presentationml/2006/main">
  <p:tag name="KSO_WM_DIAGRAM_VIRTUALLY_FRAME" val="{&quot;height&quot;:365,&quot;left&quot;:60,&quot;top&quot;:140,&quot;width&quot;:840}"/>
</p:tagLst>
</file>

<file path=ppt/tags/tag10.xml><?xml version="1.0" encoding="utf-8"?>
<p:tagLst xmlns:p="http://schemas.openxmlformats.org/presentationml/2006/main">
  <p:tag name="KSO_WM_DIAGRAM_VIRTUALLY_FRAME" val="{&quot;height&quot;:365,&quot;left&quot;:60,&quot;top&quot;:140,&quot;width&quot;:840}"/>
</p:tagLst>
</file>

<file path=ppt/tags/tag11.xml><?xml version="1.0" encoding="utf-8"?>
<p:tagLst xmlns:p="http://schemas.openxmlformats.org/presentationml/2006/main">
  <p:tag name="KSO_WM_DIAGRAM_VIRTUALLY_FRAME" val="{&quot;height&quot;:365,&quot;left&quot;:60,&quot;top&quot;:140,&quot;width&quot;:840}"/>
</p:tagLst>
</file>

<file path=ppt/tags/tag12.xml><?xml version="1.0" encoding="utf-8"?>
<p:tagLst xmlns:p="http://schemas.openxmlformats.org/presentationml/2006/main">
  <p:tag name="KSO_WM_DIAGRAM_VIRTUALLY_FRAME" val="{&quot;height&quot;:365,&quot;left&quot;:60,&quot;top&quot;:140,&quot;width&quot;:840}"/>
</p:tagLst>
</file>

<file path=ppt/tags/tag13.xml><?xml version="1.0" encoding="utf-8"?>
<p:tagLst xmlns:p="http://schemas.openxmlformats.org/presentationml/2006/main">
  <p:tag name="KSO_WM_DIAGRAM_VIRTUALLY_FRAME" val="{&quot;height&quot;:365,&quot;left&quot;:60,&quot;top&quot;:140,&quot;width&quot;:840}"/>
</p:tagLst>
</file>

<file path=ppt/tags/tag14.xml><?xml version="1.0" encoding="utf-8"?>
<p:tagLst xmlns:p="http://schemas.openxmlformats.org/presentationml/2006/main">
  <p:tag name="KSO_WM_DIAGRAM_VIRTUALLY_FRAME" val="{&quot;height&quot;:365,&quot;left&quot;:60,&quot;top&quot;:140,&quot;width&quot;:840}"/>
</p:tagLst>
</file>

<file path=ppt/tags/tag15.xml><?xml version="1.0" encoding="utf-8"?>
<p:tagLst xmlns:p="http://schemas.openxmlformats.org/presentationml/2006/main">
  <p:tag name="KSO_WM_DIAGRAM_VIRTUALLY_FRAME" val="{&quot;height&quot;:365,&quot;left&quot;:60,&quot;top&quot;:140,&quot;width&quot;:840}"/>
</p:tagLst>
</file>

<file path=ppt/tags/tag16.xml><?xml version="1.0" encoding="utf-8"?>
<p:tagLst xmlns:p="http://schemas.openxmlformats.org/presentationml/2006/main">
  <p:tag name="KSO_WM_DIAGRAM_VIRTUALLY_FRAME" val="{&quot;height&quot;:365,&quot;left&quot;:60,&quot;top&quot;:140,&quot;width&quot;:840}"/>
</p:tagLst>
</file>

<file path=ppt/tags/tag17.xml><?xml version="1.0" encoding="utf-8"?>
<p:tagLst xmlns:p="http://schemas.openxmlformats.org/presentationml/2006/main">
  <p:tag name="KSO_WM_DIAGRAM_VIRTUALLY_FRAME" val="{&quot;height&quot;:365,&quot;left&quot;:60,&quot;top&quot;:140,&quot;width&quot;:840}"/>
</p:tagLst>
</file>

<file path=ppt/tags/tag18.xml><?xml version="1.0" encoding="utf-8"?>
<p:tagLst xmlns:p="http://schemas.openxmlformats.org/presentationml/2006/main">
  <p:tag name="KSO_WM_DIAGRAM_VIRTUALLY_FRAME" val="{&quot;height&quot;:365,&quot;left&quot;:60,&quot;top&quot;:140,&quot;width&quot;:840}"/>
</p:tagLst>
</file>

<file path=ppt/tags/tag19.xml><?xml version="1.0" encoding="utf-8"?>
<p:tagLst xmlns:p="http://schemas.openxmlformats.org/presentationml/2006/main">
  <p:tag name="KSO_WM_DIAGRAM_VIRTUALLY_FRAME" val="{&quot;height&quot;:365,&quot;left&quot;:60,&quot;top&quot;:140,&quot;width&quot;:840}"/>
</p:tagLst>
</file>

<file path=ppt/tags/tag20.xml><?xml version="1.0" encoding="utf-8"?>
<p:tagLst xmlns:p="http://schemas.openxmlformats.org/presentationml/2006/main">
  <p:tag name="KSO_WM_DIAGRAM_VIRTUALLY_FRAME" val="{&quot;height&quot;:365,&quot;left&quot;:60,&quot;top&quot;:140,&quot;width&quot;:840}"/>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4257</Words>
  <Application>WPS 演示</Application>
  <PresentationFormat/>
  <Paragraphs>317</Paragraphs>
  <Slides>14</Slides>
  <Notes>0</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14</vt:i4>
      </vt:variant>
    </vt:vector>
  </HeadingPairs>
  <TitlesOfParts>
    <vt:vector size="25" baseType="lpstr">
      <vt:lpstr>Arial</vt:lpstr>
      <vt:lpstr>宋体</vt:lpstr>
      <vt:lpstr>Wingdings</vt:lpstr>
      <vt:lpstr>Arial</vt:lpstr>
      <vt:lpstr>Noto Sans SC</vt:lpstr>
      <vt:lpstr>Poppins</vt:lpstr>
      <vt:lpstr>Segoe Print</vt:lpstr>
      <vt:lpstr>微软雅黑</vt:lpstr>
      <vt:lpstr>Arial Unicode MS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ふわふわり</cp:lastModifiedBy>
  <cp:revision>4</cp:revision>
  <dcterms:created xsi:type="dcterms:W3CDTF">2026-05-11T02:56:00Z</dcterms:created>
  <dcterms:modified xsi:type="dcterms:W3CDTF">2026-05-13T21:52:34Z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ICV">
    <vt:lpwstr>347811D6FB0A4B5C9A88BDF7117A62AE_12</vt:lpwstr>
  </property>
</Properties>
</file>